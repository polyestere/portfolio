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1" r:id="rId13"/>
    <p:sldId id="263" r:id="rId14"/>
  </p:sldIdLst>
  <p:sldSz cx="18288000" cy="10287000"/>
  <p:notesSz cx="6858000" cy="9144000"/>
  <p:embeddedFontLst>
    <p:embeddedFont>
      <p:font typeface="Source Han Sans KR" panose="020B0400000000000000" pitchFamily="34" charset="-128"/>
      <p:regular r:id="rId16"/>
    </p:embeddedFont>
    <p:embeddedFont>
      <p:font typeface="Source Han Sans KR Bold" panose="020B0800000000000000" pitchFamily="34" charset="-128"/>
      <p:regular r:id="rId17"/>
      <p:bold r:id="rId18"/>
    </p:embeddedFont>
    <p:embeddedFont>
      <p:font typeface="Source Han Sans KR Medium" panose="020B0600000000000000" pitchFamily="34" charset="-128"/>
      <p:regular r:id="rId19"/>
    </p:embeddedFont>
    <p:embeddedFont>
      <p:font typeface="맑은 고딕" panose="020B0503020000020004" pitchFamily="34" charset="-127"/>
      <p:regular r:id="rId20"/>
      <p:bold r:id="rId21"/>
    </p:embeddedFont>
    <p:embeddedFont>
      <p:font typeface="Bruno" pitchFamily="2" charset="-79"/>
      <p:regular r:id="rId22"/>
    </p:embeddedFont>
    <p:embeddedFont>
      <p:font typeface="Cambria Math" panose="02040503050406030204" pitchFamily="18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1D26"/>
    <a:srgbClr val="0095EA"/>
    <a:srgbClr val="1A1A1A"/>
    <a:srgbClr val="FFFFFF"/>
    <a:srgbClr val="00E66F"/>
    <a:srgbClr val="FFD626"/>
    <a:srgbClr val="FAFAFA"/>
    <a:srgbClr val="E4E4E4"/>
    <a:srgbClr val="284B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10" autoAdjust="0"/>
  </p:normalViewPr>
  <p:slideViewPr>
    <p:cSldViewPr>
      <p:cViewPr varScale="1">
        <p:scale>
          <a:sx n="77" d="100"/>
          <a:sy n="77" d="100"/>
        </p:scale>
        <p:origin x="44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728D2-346F-A34D-B7AE-5DF235F2352A}" type="datetimeFigureOut">
              <a:rPr kumimoji="1" lang="ko-KR" altLang="en-US" smtClean="0"/>
              <a:t>2025. 3. 13.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BA058-FBB0-D745-8307-3C1658B4759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146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세미나 논문 리뷰 시작하겠습니다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7570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목차로는 먼저 논문 소개를 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리뷰 전</a:t>
            </a:r>
            <a:r>
              <a:rPr kumimoji="1" lang="en-US" altLang="ko-KR" dirty="0"/>
              <a:t> </a:t>
            </a:r>
            <a:r>
              <a:rPr kumimoji="1" lang="ko-KR" altLang="en-US" dirty="0"/>
              <a:t>간단하게 배경 지식을 소개한 다음</a:t>
            </a:r>
            <a:r>
              <a:rPr kumimoji="1" lang="en-US" altLang="ko-KR" dirty="0"/>
              <a:t> </a:t>
            </a:r>
            <a:r>
              <a:rPr kumimoji="1" lang="ko-KR" altLang="en-US" dirty="0"/>
              <a:t>논문 리뷰를 진행하겠습니다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1176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논문 제목은 </a:t>
            </a:r>
            <a:r>
              <a:rPr kumimoji="1" lang="en-US" altLang="ko-KR" dirty="0"/>
              <a:t>Boosting adversarial attacks with momentum</a:t>
            </a:r>
            <a:r>
              <a:rPr kumimoji="1" lang="ko-KR" altLang="en-US" dirty="0" err="1"/>
              <a:t>으로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모멘텀을 활용한 적대적 공격 향상에 대한 논문 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저자는 다음과 같고 해당 논문은 </a:t>
            </a:r>
            <a:r>
              <a:rPr kumimoji="1" lang="en-US" altLang="ko-KR" dirty="0"/>
              <a:t>CVPR 2018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등재된 논문입니다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9078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이제 배경 지식에 대해 말씀드리겠습니다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먼저 </a:t>
            </a:r>
            <a:r>
              <a:rPr kumimoji="1" lang="en-US" altLang="ko-KR" dirty="0"/>
              <a:t>adversarial examples </a:t>
            </a:r>
            <a:r>
              <a:rPr kumimoji="1" lang="ko-KR" altLang="en-US" dirty="0"/>
              <a:t>즉 적대적 샘플은 모델을 </a:t>
            </a:r>
            <a:r>
              <a:rPr kumimoji="1" lang="ko-KR" altLang="en-US" dirty="0" err="1"/>
              <a:t>혼란시키</a:t>
            </a:r>
            <a:r>
              <a:rPr kumimoji="1" lang="ko-KR" altLang="en-US" dirty="0"/>
              <a:t> 위한 목적으로 만들어진 데이터 샘플을 뜻합니다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모델은 이러한 적대적 샘플로 인해 잘못된 결과를 출력하게 되고요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 적대적 샘플은 인간의 시각체계로는 알아채기 어려운 미세한 노이즈를 삽입해서 만들어 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관련 방법으로는 </a:t>
            </a:r>
            <a:r>
              <a:rPr kumimoji="1" lang="en-US" altLang="ko-KR" dirty="0"/>
              <a:t>FGSM, JSMA, </a:t>
            </a:r>
            <a:r>
              <a:rPr kumimoji="1" lang="en-US" altLang="ko-KR" dirty="0" err="1"/>
              <a:t>DeepFool</a:t>
            </a:r>
            <a:r>
              <a:rPr kumimoji="1" lang="ko-KR" altLang="en-US" dirty="0"/>
              <a:t>이 있으며 여기서는 </a:t>
            </a:r>
            <a:r>
              <a:rPr kumimoji="1" lang="en-US" altLang="ko-KR" dirty="0"/>
              <a:t>FGSM</a:t>
            </a:r>
            <a:r>
              <a:rPr kumimoji="1" lang="ko-KR" altLang="en-US" dirty="0"/>
              <a:t>만 다루도록 하겠습니다</a:t>
            </a:r>
            <a:r>
              <a:rPr kumimoji="1" lang="en-US" altLang="ko-KR" dirty="0"/>
              <a:t>. FGSM</a:t>
            </a:r>
            <a:r>
              <a:rPr kumimoji="1" lang="ko-KR" altLang="en-US" dirty="0"/>
              <a:t>의 방식은 아래에 이미지처럼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 이미지는 적대적 샘플 관련해서 일반적으로 쓰이는 예시인데요</a:t>
            </a:r>
            <a:r>
              <a:rPr kumimoji="1" lang="en-US" altLang="ko-KR" dirty="0"/>
              <a:t>. </a:t>
            </a:r>
            <a:r>
              <a:rPr kumimoji="1" lang="ko-KR" altLang="en-US" dirty="0"/>
              <a:t>예를 들어 판다 데이터에 노이즈를 추가해 모델에 적용시키면 모델은 긴팔원숭이라는 전혀 다른 결과로 분류하게 되는 방식입니다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5405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다음으로는 관련된 공격 기법 중 </a:t>
            </a:r>
            <a:r>
              <a:rPr kumimoji="1" lang="en-US" altLang="ko-KR" dirty="0"/>
              <a:t>white-box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black-box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말씀드리겠습니다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먼저 화이트 박스의 경우 공격자가 공격 대상 모델에 대해 </a:t>
            </a:r>
            <a:r>
              <a:rPr kumimoji="1" lang="ko-KR" altLang="en-US" dirty="0" err="1"/>
              <a:t>모든걸</a:t>
            </a:r>
            <a:r>
              <a:rPr kumimoji="1" lang="ko-KR" altLang="en-US" dirty="0"/>
              <a:t> 알고 공격하는 것을 의미합니다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 경우에는 역전파를 통해 </a:t>
            </a:r>
            <a:r>
              <a:rPr kumimoji="1" lang="ko-KR" altLang="en-US" dirty="0" err="1"/>
              <a:t>그래디언트를</a:t>
            </a:r>
            <a:r>
              <a:rPr kumimoji="1" lang="ko-KR" altLang="en-US" dirty="0"/>
              <a:t> 구한다음 손실이 최대가 되는 방향으로 적대적 샘플을 만들어 공격하게 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다음으로 블랙박스의 경우 공격자가 모델에 대해 잘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모를 때 공격하는 방식을 의미합니다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예를 들면 모델의 처음 </a:t>
            </a:r>
            <a:r>
              <a:rPr kumimoji="1" lang="en-US" altLang="ko-KR" dirty="0"/>
              <a:t>input</a:t>
            </a:r>
            <a:r>
              <a:rPr kumimoji="1" lang="ko-KR" altLang="en-US" dirty="0"/>
              <a:t>값과 최종 </a:t>
            </a:r>
            <a:r>
              <a:rPr kumimoji="1" lang="en-US" altLang="ko-KR" dirty="0"/>
              <a:t>output</a:t>
            </a:r>
            <a:r>
              <a:rPr kumimoji="1" lang="ko-KR" altLang="en-US" dirty="0"/>
              <a:t>값만 아는 경우가 블랙박스에 해당한다고 볼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이럴 때</a:t>
            </a:r>
            <a:r>
              <a:rPr kumimoji="1" lang="en-US" altLang="ko-KR" dirty="0"/>
              <a:t> </a:t>
            </a:r>
            <a:r>
              <a:rPr kumimoji="1" lang="ko-KR" altLang="en-US" dirty="0"/>
              <a:t>공격자는 대상 모델과 유사한 모델을 통해 적대적 샘플을 만들고 이를 실제 공격 대상 모델에 적용하여 공격하는 방식으로 진행합니다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0970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 </a:t>
            </a:r>
            <a:r>
              <a:rPr kumimoji="1" lang="en-US" altLang="ko-KR" dirty="0"/>
              <a:t>FGSM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설명입니다</a:t>
            </a:r>
            <a:r>
              <a:rPr kumimoji="1" lang="en-US" altLang="ko-KR" dirty="0"/>
              <a:t>. FGSM</a:t>
            </a:r>
            <a:r>
              <a:rPr kumimoji="1" lang="ko-KR" altLang="en-US" dirty="0"/>
              <a:t>이란 적대적 샘플을 만드는 알고리즘입니다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아까 말씀드렸다 </a:t>
            </a:r>
            <a:r>
              <a:rPr kumimoji="1" lang="ko-KR" altLang="en-US" dirty="0" err="1"/>
              <a:t>싶이</a:t>
            </a:r>
            <a:r>
              <a:rPr kumimoji="1" lang="ko-KR" altLang="en-US" dirty="0"/>
              <a:t> </a:t>
            </a:r>
            <a:r>
              <a:rPr kumimoji="1" lang="en-US" altLang="ko-KR" dirty="0"/>
              <a:t>FGSM</a:t>
            </a:r>
            <a:r>
              <a:rPr kumimoji="1" lang="ko-KR" altLang="en-US" dirty="0"/>
              <a:t>은 </a:t>
            </a:r>
            <a:r>
              <a:rPr kumimoji="1" lang="ko-KR" altLang="en-US" dirty="0" err="1"/>
              <a:t>역전파</a:t>
            </a:r>
            <a:r>
              <a:rPr kumimoji="1" lang="ko-KR" altLang="en-US" dirty="0"/>
              <a:t> 과정에서 손실 함수의 </a:t>
            </a:r>
            <a:r>
              <a:rPr kumimoji="1" lang="ko-KR" altLang="en-US" dirty="0" err="1"/>
              <a:t>그래디언트를</a:t>
            </a:r>
            <a:r>
              <a:rPr kumimoji="1" lang="ko-KR" altLang="en-US" dirty="0"/>
              <a:t> 계산하고 손실을 최대화하는 적대적 샘플을 생성하는 방식이고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원본 데이터에 대해서 딱 한번만 업데이트를 진행한다는 특징이 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아래 수식은 원본 데이터 </a:t>
            </a:r>
            <a:r>
              <a:rPr kumimoji="1" lang="en-US" altLang="ko-KR" dirty="0"/>
              <a:t>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노이즈를 추가해 적대적 샘플을 만드는 식이고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여기서 표시된 부분 즉 노이즈에 대해 하단에서 자세하게 설명하겠습니다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먼저 좌측 그래프는 입력 데이터 </a:t>
            </a:r>
            <a:r>
              <a:rPr kumimoji="1" lang="en-US" altLang="ko-KR" dirty="0"/>
              <a:t>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의한 손실함수를 나타낸 것입니다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여기서 빨간 선은 </a:t>
            </a:r>
            <a:r>
              <a:rPr kumimoji="1" lang="en-US" altLang="ko-KR" dirty="0"/>
              <a:t>x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그래디언트를</a:t>
            </a:r>
            <a:r>
              <a:rPr kumimoji="1" lang="ko-KR" altLang="en-US" dirty="0"/>
              <a:t> 의미하며 화살표가 가리키는 방향이 손실이 커지는 방향이라는 것을 알</a:t>
            </a:r>
            <a:r>
              <a:rPr kumimoji="1" lang="en-US" altLang="ko-KR" dirty="0"/>
              <a:t> </a:t>
            </a:r>
            <a:r>
              <a:rPr kumimoji="1" lang="ko-KR" altLang="en-US" dirty="0"/>
              <a:t>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하지만 여기서 주의할 점은 해당 방향에 대해 너무 큰 노이즈를 추가해버리면 사람이 쉽게 탐지할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있기 때문에 노이즈의 크기를 조절해 주어야 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그래서 우측에 보이는 부분이 이에 대한 부분이고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여기서 보면 노이즈의 크기를 엡실론이라는 파라미터를 통해 설정하는 모습을 볼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해당 논문은 이 </a:t>
            </a:r>
            <a:r>
              <a:rPr kumimoji="1" lang="en-US" altLang="ko-KR" dirty="0"/>
              <a:t>FGSM </a:t>
            </a:r>
            <a:r>
              <a:rPr kumimoji="1" lang="ko-KR" altLang="en-US" dirty="0"/>
              <a:t>알고리즘을 기반으로 연구를 진행하였고 이제 본격적으로 논문에 대해 말씀드리겠습니다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7223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먼저 논문에서 사용하는 공격으로 </a:t>
            </a:r>
            <a:r>
              <a:rPr kumimoji="1" lang="en-US" altLang="ko-KR" dirty="0"/>
              <a:t>Transfer-based attack</a:t>
            </a:r>
            <a:r>
              <a:rPr kumimoji="1" lang="ko-KR" altLang="en-US" dirty="0"/>
              <a:t>이라는 것이 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 공격은 </a:t>
            </a:r>
            <a:r>
              <a:rPr kumimoji="1" lang="en-US" altLang="ko-KR" dirty="0"/>
              <a:t>transferability</a:t>
            </a:r>
            <a:r>
              <a:rPr kumimoji="1" lang="ko-KR" altLang="en-US" dirty="0"/>
              <a:t>라는 전이 가능성을 활용한 공격인데요</a:t>
            </a:r>
            <a:r>
              <a:rPr kumimoji="1" lang="en-US" altLang="ko-KR" dirty="0"/>
              <a:t>. </a:t>
            </a:r>
            <a:r>
              <a:rPr kumimoji="1" lang="ko-KR" altLang="en-US" dirty="0"/>
              <a:t>전이 가능성이란 유사한 학습 데이터로 학습한 모델은 유사한 </a:t>
            </a:r>
            <a:r>
              <a:rPr kumimoji="1" lang="en-US" altLang="ko-KR" dirty="0"/>
              <a:t>decision boundary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가진다는 것을 의미합니다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이러한 특성을 바탕으로 블랙박스 </a:t>
            </a:r>
            <a:r>
              <a:rPr kumimoji="1" lang="ko-KR" altLang="en-US" dirty="0" err="1"/>
              <a:t>공격시</a:t>
            </a:r>
            <a:r>
              <a:rPr kumimoji="1" lang="ko-KR" altLang="en-US" dirty="0"/>
              <a:t> 유사 모델에서 생성된 적대적 샘플이 실제 공격 대상에 적용됩니다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또한 공격의 성능을 높이기 위해 모델 앙상블 기법을 사용하였는데요</a:t>
            </a:r>
            <a:r>
              <a:rPr kumimoji="1" lang="en-US" altLang="ko-KR" dirty="0"/>
              <a:t>. </a:t>
            </a:r>
            <a:r>
              <a:rPr kumimoji="1" lang="ko-KR" altLang="en-US" dirty="0"/>
              <a:t>논문에서는 공격 위주로 앙상블을 적용하였지만</a:t>
            </a:r>
            <a:r>
              <a:rPr kumimoji="1" lang="en-US" altLang="ko-KR" dirty="0"/>
              <a:t>, </a:t>
            </a:r>
            <a:r>
              <a:rPr kumimoji="1" lang="ko-KR" altLang="en-US" dirty="0"/>
              <a:t>모델의 방어율을 </a:t>
            </a:r>
            <a:r>
              <a:rPr kumimoji="1" lang="ko-KR" altLang="en-US" dirty="0" err="1"/>
              <a:t>높일때도</a:t>
            </a:r>
            <a:r>
              <a:rPr kumimoji="1" lang="ko-KR" altLang="en-US" dirty="0"/>
              <a:t> 앙상블을 사용할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5384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논문에서 제시한 모델은 </a:t>
            </a:r>
            <a:r>
              <a:rPr kumimoji="1" lang="en-US" altLang="ko-KR" dirty="0"/>
              <a:t>MI-FGSM</a:t>
            </a:r>
            <a:r>
              <a:rPr kumimoji="1" lang="ko-KR" altLang="en-US" dirty="0"/>
              <a:t>이고 이는 모멘텀을 이용한 반복적인 </a:t>
            </a:r>
            <a:r>
              <a:rPr kumimoji="1" lang="en-US" altLang="ko-KR" dirty="0"/>
              <a:t>FGSM</a:t>
            </a:r>
            <a:r>
              <a:rPr kumimoji="1" lang="ko-KR" altLang="en-US" dirty="0"/>
              <a:t>을 의미합니다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여기서 반복적인 </a:t>
            </a:r>
            <a:r>
              <a:rPr kumimoji="1" lang="en-US" altLang="ko-KR" dirty="0"/>
              <a:t>FGSM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I-FGSM</a:t>
            </a:r>
            <a:r>
              <a:rPr kumimoji="1" lang="ko-KR" altLang="en-US" dirty="0"/>
              <a:t>은 일반적인 경사 상승법을 통해 손실의 최대값을 구합니다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그러나 이러한 일반적인 경사 기반 최적화 기법은 기울기가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인 점을 잘 탈출하지 못하고 이는 모델이 </a:t>
            </a:r>
            <a:r>
              <a:rPr kumimoji="1" lang="en-US" altLang="ko-KR" dirty="0"/>
              <a:t>global</a:t>
            </a:r>
            <a:r>
              <a:rPr kumimoji="1" lang="ko-KR" altLang="en-US" dirty="0"/>
              <a:t>한 최대값이 아닌 </a:t>
            </a:r>
            <a:r>
              <a:rPr kumimoji="1" lang="ko-KR" altLang="en-US" dirty="0" err="1"/>
              <a:t>극대값을</a:t>
            </a:r>
            <a:r>
              <a:rPr kumimoji="1" lang="ko-KR" altLang="en-US" dirty="0"/>
              <a:t> 잘못 구하는 문제가 발생합니다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또한 훈련 속도 역시 느리다는 단점이 존재합니다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모멘텀은 이러한 단점을 보완해주는데 먼저 모멘텀에 대해 간단하게 말씀드리면 모멘텀은 물리학의 관성과 비슷한 개념으로 이전 상태를 반영하는 것을 의미합니다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이러한 모멘텀을 이용해 기존의 단점을 해결하는 과정은 우측과 같습니다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우측은 경사 하강법을 예시로 들었고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먼저 시점 </a:t>
            </a:r>
            <a:r>
              <a:rPr kumimoji="1" lang="en-US" altLang="ko-KR" dirty="0"/>
              <a:t>t</a:t>
            </a:r>
            <a:r>
              <a:rPr kumimoji="1" lang="ko-KR" altLang="en-US" dirty="0"/>
              <a:t>의 기울기가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인 상태에서 이전 상태인 </a:t>
            </a:r>
            <a:r>
              <a:rPr kumimoji="1" lang="en-US" altLang="ko-KR" dirty="0"/>
              <a:t>t-1</a:t>
            </a:r>
            <a:r>
              <a:rPr kumimoji="1" lang="ko-KR" altLang="en-US" dirty="0"/>
              <a:t>의 방향을 반영하는 방식으로 기울기가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인 지점을 탈출하게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또한 이렇게 이전 상태의 방향을 반영하면 현재 상태로만 이동하는 것보다 훨씬 더</a:t>
            </a:r>
            <a:r>
              <a:rPr kumimoji="1" lang="en-US" altLang="ko-KR" dirty="0"/>
              <a:t> </a:t>
            </a:r>
            <a:r>
              <a:rPr kumimoji="1" lang="ko-KR" altLang="en-US" dirty="0"/>
              <a:t>빠릅니다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아래는 </a:t>
            </a:r>
            <a:r>
              <a:rPr kumimoji="1" lang="en-US" altLang="ko-KR" dirty="0"/>
              <a:t>MI-FGSM</a:t>
            </a:r>
            <a:r>
              <a:rPr kumimoji="1" lang="ko-KR" altLang="en-US" dirty="0"/>
              <a:t>의 의사코드로써 </a:t>
            </a:r>
            <a:r>
              <a:rPr kumimoji="1" lang="ko-KR" altLang="en-US" dirty="0" err="1"/>
              <a:t>그래디언트를</a:t>
            </a:r>
            <a:r>
              <a:rPr kumimoji="1" lang="ko-KR" altLang="en-US" dirty="0"/>
              <a:t> 업데이트 하는 과정에서 모멘텀이 쓰인 걸 볼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여기서 뮤는 모멘텀 계수로 본 논문에서는 </a:t>
            </a:r>
            <a:r>
              <a:rPr kumimoji="1" lang="en-US" altLang="ko-KR" dirty="0"/>
              <a:t>1</a:t>
            </a:r>
            <a:r>
              <a:rPr kumimoji="1" lang="ko-KR" altLang="en-US" dirty="0"/>
              <a:t>로 설정하였습니다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6721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다음으로는 모델의 성능을 높이기 위해 앙상블을 적용한 부분입니다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여기서는 </a:t>
            </a:r>
            <a:r>
              <a:rPr kumimoji="1" lang="en-US" altLang="ko-KR" dirty="0"/>
              <a:t>k</a:t>
            </a:r>
            <a:r>
              <a:rPr kumimoji="1" lang="ko-KR" altLang="en-US" dirty="0"/>
              <a:t>개의 모델의 </a:t>
            </a:r>
            <a:r>
              <a:rPr kumimoji="1" lang="en-US" altLang="ko-KR" dirty="0"/>
              <a:t>logit</a:t>
            </a:r>
            <a:r>
              <a:rPr kumimoji="1" lang="ko-KR" altLang="en-US" dirty="0"/>
              <a:t>의 가중치 합을 계산하고 </a:t>
            </a:r>
            <a:r>
              <a:rPr kumimoji="1" lang="en-US" altLang="ko-KR" dirty="0" err="1"/>
              <a:t>softmax</a:t>
            </a:r>
            <a:r>
              <a:rPr kumimoji="1" lang="en-US" altLang="ko-KR" dirty="0"/>
              <a:t>, cross-entropy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이용해 전체 </a:t>
            </a:r>
            <a:r>
              <a:rPr kumimoji="1" lang="ko-KR" altLang="en-US" dirty="0" err="1"/>
              <a:t>손실값을</a:t>
            </a:r>
            <a:r>
              <a:rPr kumimoji="1" lang="ko-KR" altLang="en-US" dirty="0"/>
              <a:t> 계산한 후</a:t>
            </a:r>
            <a:r>
              <a:rPr kumimoji="1" lang="en-US" altLang="ko-KR" dirty="0"/>
              <a:t>.</a:t>
            </a:r>
            <a:r>
              <a:rPr kumimoji="1" lang="ko-KR" altLang="en-US" dirty="0"/>
              <a:t> 적대적 샘플을 생성하는 방식을 제안합니다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먼저 네번째 줄에 </a:t>
            </a:r>
            <a:r>
              <a:rPr kumimoji="1" lang="en-US" altLang="ko-KR" dirty="0"/>
              <a:t>k</a:t>
            </a:r>
            <a:r>
              <a:rPr kumimoji="1" lang="ko-KR" altLang="en-US" dirty="0"/>
              <a:t>개의 모델 데이터를 입력하고 </a:t>
            </a:r>
            <a:r>
              <a:rPr kumimoji="1" lang="en-US" altLang="ko-KR" dirty="0"/>
              <a:t>5</a:t>
            </a:r>
            <a:r>
              <a:rPr kumimoji="1" lang="ko-KR" altLang="en-US" dirty="0"/>
              <a:t>번째 줄에서 각 모델 </a:t>
            </a:r>
            <a:r>
              <a:rPr kumimoji="1" lang="en-US" altLang="ko-KR" dirty="0"/>
              <a:t>k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logit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가중치 합을 계산합니다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이후 </a:t>
            </a:r>
            <a:r>
              <a:rPr kumimoji="1" lang="ko-KR" altLang="en-US" dirty="0" err="1"/>
              <a:t>여섯번째</a:t>
            </a:r>
            <a:r>
              <a:rPr kumimoji="1" lang="ko-KR" altLang="en-US" dirty="0"/>
              <a:t> 줄에서 계산된 가중치 합을 통해 </a:t>
            </a:r>
            <a:r>
              <a:rPr kumimoji="1" lang="en-US" altLang="ko-KR" dirty="0" err="1"/>
              <a:t>softmax</a:t>
            </a:r>
            <a:r>
              <a:rPr kumimoji="1" lang="ko-KR" altLang="en-US" dirty="0"/>
              <a:t>로 확률로 변환한 후 </a:t>
            </a:r>
            <a:r>
              <a:rPr kumimoji="1" lang="en-US" altLang="ko-KR" dirty="0"/>
              <a:t>cross-entropy</a:t>
            </a:r>
            <a:r>
              <a:rPr kumimoji="1" lang="ko-KR" altLang="en-US" dirty="0"/>
              <a:t>로 손실 값을 구하고 </a:t>
            </a:r>
            <a:r>
              <a:rPr kumimoji="1" lang="ko-KR" altLang="en-US" dirty="0" err="1"/>
              <a:t>일곱번째</a:t>
            </a:r>
            <a:r>
              <a:rPr kumimoji="1" lang="ko-KR" altLang="en-US" dirty="0"/>
              <a:t> 줄에서 </a:t>
            </a:r>
            <a:r>
              <a:rPr kumimoji="1" lang="ko-KR" altLang="en-US" dirty="0" err="1"/>
              <a:t>그래디언트를</a:t>
            </a:r>
            <a:r>
              <a:rPr kumimoji="1" lang="ko-KR" altLang="en-US" dirty="0"/>
              <a:t> 구하는 방식입니다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 이후로는 이전 </a:t>
            </a:r>
            <a:r>
              <a:rPr kumimoji="1" lang="en-US" altLang="ko-KR" dirty="0"/>
              <a:t>MI-FGSM</a:t>
            </a:r>
            <a:r>
              <a:rPr kumimoji="1" lang="ko-KR" altLang="en-US" dirty="0"/>
              <a:t>과 동일하게 </a:t>
            </a:r>
            <a:r>
              <a:rPr kumimoji="1" lang="ko-KR" altLang="en-US" dirty="0" err="1"/>
              <a:t>그래디언트와</a:t>
            </a:r>
            <a:r>
              <a:rPr kumimoji="1" lang="ko-KR" altLang="en-US" dirty="0"/>
              <a:t> 샘플을 업데이트하면서 적대적 샘플을 반환합니다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6458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본 논문에서는 제시한 모델에 대한 두 가지 실험을 진행했는데요</a:t>
            </a:r>
            <a:r>
              <a:rPr kumimoji="1" lang="en-US" altLang="ko-KR" dirty="0"/>
              <a:t>. </a:t>
            </a:r>
            <a:r>
              <a:rPr kumimoji="1" lang="ko-KR" altLang="en-US" dirty="0"/>
              <a:t>먼저 첫 번째 실험은 단일 모델에 대한 공격 실험입니다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좌측 </a:t>
            </a:r>
            <a:r>
              <a:rPr kumimoji="1" lang="en-US" altLang="ko-KR" dirty="0"/>
              <a:t>4</a:t>
            </a:r>
            <a:r>
              <a:rPr kumimoji="1" lang="ko-KR" altLang="en-US" dirty="0"/>
              <a:t>개의 모델은 저자들이 만든 임의 모델이고 첫번째 행에 있는 모델들이 공격 대상입니다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여기서 파란색으로 표시된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개의 모델은 앙상블 기법으로 학습된 모델로 다른 모델에 비해 적대적 샘플에 강건한 모델들입니다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먼저 빨간색으로 표시된 부분은 자기 자신에 대해 공격하기 때문에 화이트박스 공격에 해당되고 </a:t>
            </a:r>
            <a:r>
              <a:rPr kumimoji="1" lang="en-US" altLang="ko-KR" dirty="0"/>
              <a:t>MI-FGSM</a:t>
            </a:r>
            <a:r>
              <a:rPr kumimoji="1" lang="ko-KR" altLang="en-US" dirty="0"/>
              <a:t>의 경우 </a:t>
            </a:r>
            <a:r>
              <a:rPr kumimoji="1" lang="en-US" altLang="ko-KR" dirty="0"/>
              <a:t>100%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가까운 성능을 보입니다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다음으로 블랙 박스의 경우 공격 대상이 단일 모델일 때는 약 </a:t>
            </a:r>
            <a:r>
              <a:rPr kumimoji="1" lang="en-US" altLang="ko-KR" dirty="0"/>
              <a:t>50%</a:t>
            </a:r>
            <a:r>
              <a:rPr kumimoji="1" lang="ko-KR" altLang="en-US" dirty="0"/>
              <a:t>정도의 성능을 보이고 대상이 앙상블 모델일때는 낮은 공격 성공률을 보입니다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1656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 두 번째 실험은 공격 방식에 앙상블 기법을 추가한 실험입니다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여기서 좌측 </a:t>
            </a:r>
            <a:r>
              <a:rPr kumimoji="1" lang="en-US" altLang="ko-KR" dirty="0"/>
              <a:t>4</a:t>
            </a:r>
            <a:r>
              <a:rPr kumimoji="1" lang="ko-KR" altLang="en-US" dirty="0"/>
              <a:t>개의 모델은 공격 대상 모델이고 </a:t>
            </a:r>
            <a:r>
              <a:rPr kumimoji="1" lang="en-US" altLang="ko-KR" dirty="0"/>
              <a:t>FGSM, I-FGSM, MI-FGSM 3</a:t>
            </a:r>
            <a:r>
              <a:rPr kumimoji="1" lang="ko-KR" altLang="en-US" dirty="0"/>
              <a:t>가지의 알고리즘으로 공격하는 상황입니다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여기서 빨간색으로 표시된 공격 시나리오는 공격 대상까지 포함한 모든 </a:t>
            </a:r>
            <a:r>
              <a:rPr kumimoji="1" lang="en-US" altLang="ko-KR" dirty="0"/>
              <a:t>4</a:t>
            </a:r>
            <a:r>
              <a:rPr kumimoji="1" lang="ko-KR" altLang="en-US" dirty="0"/>
              <a:t>개 모델을 앙상블해서 공격하는 시나리오이며 화이트 박스 공격에 해당합니다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반면 파란색인 홀드아웃 시나리오는 공격 대상을 제외한 나머지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개의 모델로 앙상블을 적용한 블랙 박스 시나리오입니다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앙상블 시나리오에서는 </a:t>
            </a:r>
            <a:r>
              <a:rPr kumimoji="1" lang="en-US" altLang="ko-KR" dirty="0"/>
              <a:t>FGSM</a:t>
            </a:r>
            <a:r>
              <a:rPr kumimoji="1" lang="ko-KR" altLang="en-US" dirty="0"/>
              <a:t>을 제외하고 </a:t>
            </a:r>
            <a:r>
              <a:rPr kumimoji="1" lang="en-US" altLang="ko-KR" dirty="0"/>
              <a:t>100%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가까운 공격 성공률을 보이지만 홀드 아웃일 때는 </a:t>
            </a:r>
            <a:r>
              <a:rPr kumimoji="1" lang="en-US" altLang="ko-KR" dirty="0"/>
              <a:t>MI-FGSM</a:t>
            </a:r>
            <a:r>
              <a:rPr kumimoji="1" lang="ko-KR" altLang="en-US" dirty="0"/>
              <a:t>이 높은 공격 성공률을 보여줍니다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0326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이전 실험에 이어서 이번에는 앙상블로 학습된 모델에 대한 공격 상황입니다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마찬가지로 </a:t>
            </a:r>
            <a:r>
              <a:rPr kumimoji="1" lang="en-US" altLang="ko-KR" dirty="0"/>
              <a:t>FGSM</a:t>
            </a:r>
            <a:r>
              <a:rPr kumimoji="1" lang="ko-KR" altLang="en-US" dirty="0"/>
              <a:t>을 제외하고 앙상블 시나리오에서는 </a:t>
            </a:r>
            <a:r>
              <a:rPr kumimoji="1" lang="en-US" altLang="ko-KR" dirty="0"/>
              <a:t>100%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가깝지만</a:t>
            </a:r>
            <a:r>
              <a:rPr kumimoji="1" lang="en-US" altLang="ko-KR" dirty="0"/>
              <a:t>, </a:t>
            </a:r>
            <a:r>
              <a:rPr kumimoji="1" lang="ko-KR" altLang="en-US" dirty="0"/>
              <a:t>홀드아웃일 경우 </a:t>
            </a:r>
            <a:r>
              <a:rPr kumimoji="1" lang="en-US" altLang="ko-KR" dirty="0"/>
              <a:t>MI-FGSM</a:t>
            </a:r>
            <a:r>
              <a:rPr kumimoji="1" lang="ko-KR" altLang="en-US" dirty="0"/>
              <a:t>이 다른 두</a:t>
            </a:r>
            <a:r>
              <a:rPr kumimoji="1" lang="en-US" altLang="ko-KR" dirty="0"/>
              <a:t> </a:t>
            </a:r>
            <a:r>
              <a:rPr kumimoji="1" lang="ko-KR" altLang="en-US" dirty="0"/>
              <a:t>알고리즘보다 확연히 좋은 공격 성공률을 보이고 있음을 알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따라서 이 논문의 결론으로 먼저 모멘텀은 블랙 박스의 경우에도 높은 공격 성공률을 보이며 적대적 샘플을 만드는 과정에서 앙상블 기법을 적용해 만든다면 높은 전이 가능성을 가진 공격을 수행할 수 있다는 방법론을 제시합니다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31247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3.sv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402181" y="4092709"/>
            <a:ext cx="5648474" cy="130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4"/>
              </a:lnSpc>
              <a:spcBef>
                <a:spcPct val="0"/>
              </a:spcBef>
            </a:pPr>
            <a:r>
              <a:rPr lang="en-US" sz="7696" b="1" dirty="0" err="1">
                <a:solidFill>
                  <a:srgbClr val="000000"/>
                </a:solidFill>
                <a:latin typeface="+mj-lt"/>
                <a:ea typeface="Source Han Sans KR Bold"/>
                <a:cs typeface="Source Han Sans KR Bold"/>
                <a:sym typeface="Source Han Sans KR Bold"/>
              </a:rPr>
              <a:t>EcoAI</a:t>
            </a:r>
            <a:r>
              <a:rPr lang="en-US" sz="7696" b="1" dirty="0">
                <a:solidFill>
                  <a:srgbClr val="000000"/>
                </a:solidFill>
                <a:latin typeface="+mj-lt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7696" b="1" dirty="0" err="1">
                <a:solidFill>
                  <a:srgbClr val="000000"/>
                </a:solidFill>
                <a:latin typeface="+mj-lt"/>
                <a:ea typeface="Source Han Sans KR Bold"/>
                <a:cs typeface="Source Han Sans KR Bold"/>
                <a:sym typeface="Source Han Sans KR Bold"/>
              </a:rPr>
              <a:t>세미나</a:t>
            </a:r>
            <a:endParaRPr lang="en-US" sz="7696" b="1" dirty="0">
              <a:solidFill>
                <a:srgbClr val="000000"/>
              </a:solidFill>
              <a:latin typeface="+mj-lt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938004" y="990600"/>
            <a:ext cx="1664196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2025.0</a:t>
            </a:r>
            <a:r>
              <a:rPr lang="en-US" altLang="ko-KR" sz="20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r>
              <a:rPr lang="en-US" altLang="ko-KR" sz="20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13</a:t>
            </a:r>
            <a:r>
              <a:rPr lang="en-US" sz="20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02181" y="6266522"/>
            <a:ext cx="4465218" cy="929096"/>
            <a:chOff x="0" y="-192881"/>
            <a:chExt cx="5953623" cy="1238795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-192881"/>
              <a:ext cx="5953623" cy="1238795"/>
              <a:chOff x="0" y="-38100"/>
              <a:chExt cx="1176024" cy="2447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-38100"/>
                <a:ext cx="1176024" cy="244700"/>
              </a:xfrm>
              <a:custGeom>
                <a:avLst/>
                <a:gdLst/>
                <a:ahLst/>
                <a:cxnLst/>
                <a:rect l="l" t="t" r="r" b="b"/>
                <a:pathLst>
                  <a:path w="733922" h="186926">
                    <a:moveTo>
                      <a:pt x="93463" y="0"/>
                    </a:moveTo>
                    <a:lnTo>
                      <a:pt x="640459" y="0"/>
                    </a:lnTo>
                    <a:cubicBezTo>
                      <a:pt x="665247" y="0"/>
                      <a:pt x="689020" y="9847"/>
                      <a:pt x="706548" y="27375"/>
                    </a:cubicBezTo>
                    <a:cubicBezTo>
                      <a:pt x="724075" y="44902"/>
                      <a:pt x="733922" y="68675"/>
                      <a:pt x="733922" y="93463"/>
                    </a:cubicBezTo>
                    <a:lnTo>
                      <a:pt x="733922" y="93463"/>
                    </a:lnTo>
                    <a:cubicBezTo>
                      <a:pt x="733922" y="118251"/>
                      <a:pt x="724075" y="142024"/>
                      <a:pt x="706548" y="159551"/>
                    </a:cubicBezTo>
                    <a:cubicBezTo>
                      <a:pt x="689020" y="177079"/>
                      <a:pt x="665247" y="186926"/>
                      <a:pt x="640459" y="186926"/>
                    </a:cubicBezTo>
                    <a:lnTo>
                      <a:pt x="93463" y="186926"/>
                    </a:lnTo>
                    <a:cubicBezTo>
                      <a:pt x="68675" y="186926"/>
                      <a:pt x="44902" y="177079"/>
                      <a:pt x="27375" y="159551"/>
                    </a:cubicBezTo>
                    <a:cubicBezTo>
                      <a:pt x="9847" y="142024"/>
                      <a:pt x="0" y="118251"/>
                      <a:pt x="0" y="93463"/>
                    </a:cubicBezTo>
                    <a:lnTo>
                      <a:pt x="0" y="93463"/>
                    </a:lnTo>
                    <a:cubicBezTo>
                      <a:pt x="0" y="68675"/>
                      <a:pt x="9847" y="44902"/>
                      <a:pt x="27375" y="27375"/>
                    </a:cubicBezTo>
                    <a:cubicBezTo>
                      <a:pt x="44902" y="9847"/>
                      <a:pt x="68675" y="0"/>
                      <a:pt x="93463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733922" cy="2250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739251" y="-4785"/>
              <a:ext cx="4604774" cy="8479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0"/>
                </a:lnSpc>
                <a:spcBef>
                  <a:spcPct val="0"/>
                </a:spcBef>
              </a:pPr>
              <a:r>
                <a:rPr lang="en-US" sz="3793" b="1" dirty="0" err="1">
                  <a:solidFill>
                    <a:srgbClr val="F9F3EF"/>
                  </a:solidFill>
                  <a:latin typeface="+mj-lt"/>
                  <a:ea typeface="Source Han Sans KR Medium"/>
                  <a:cs typeface="Source Han Sans KR Medium"/>
                  <a:sym typeface="Source Han Sans KR Medium"/>
                </a:rPr>
                <a:t>장현석</a:t>
              </a:r>
              <a:r>
                <a:rPr lang="en-US" altLang="ko-KR" sz="3793" b="1" dirty="0">
                  <a:solidFill>
                    <a:srgbClr val="F9F3EF"/>
                  </a:solidFill>
                  <a:latin typeface="+mj-lt"/>
                  <a:ea typeface="Source Han Sans KR Medium"/>
                  <a:cs typeface="Source Han Sans KR Medium"/>
                  <a:sym typeface="Source Han Sans KR Medium"/>
                </a:rPr>
                <a:t>, </a:t>
              </a:r>
              <a:r>
                <a:rPr lang="ko-KR" altLang="en-US" sz="3793" b="1" dirty="0">
                  <a:solidFill>
                    <a:srgbClr val="F9F3EF"/>
                  </a:solidFill>
                  <a:latin typeface="+mj-lt"/>
                  <a:ea typeface="Source Han Sans KR Medium"/>
                  <a:cs typeface="Source Han Sans KR Medium"/>
                  <a:sym typeface="Source Han Sans KR Medium"/>
                </a:rPr>
                <a:t>정민성</a:t>
              </a:r>
              <a:endParaRPr lang="en-US" sz="3793" b="1" dirty="0">
                <a:solidFill>
                  <a:srgbClr val="F9F3EF"/>
                </a:solidFill>
                <a:latin typeface="+mj-lt"/>
                <a:ea typeface="Source Han Sans KR Medium"/>
                <a:cs typeface="Source Han Sans KR Medium"/>
                <a:sym typeface="Source Han Sans K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117475"/>
            <a:ext cx="304502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EB1D26"/>
                </a:solidFill>
                <a:latin typeface="+mj-lt"/>
                <a:ea typeface="Bruno Bold"/>
                <a:cs typeface="Bruno Bold"/>
                <a:sym typeface="Bruno Bold"/>
              </a:rPr>
              <a:t>CONTENTS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7867" y="2346358"/>
            <a:ext cx="13773000" cy="6650568"/>
            <a:chOff x="0" y="0"/>
            <a:chExt cx="18364000" cy="8867424"/>
          </a:xfrm>
        </p:grpSpPr>
        <p:sp>
          <p:nvSpPr>
            <p:cNvPr id="4" name="TextBox 4"/>
            <p:cNvSpPr txBox="1"/>
            <p:nvPr/>
          </p:nvSpPr>
          <p:spPr>
            <a:xfrm>
              <a:off x="3643056" y="89951"/>
              <a:ext cx="10679788" cy="19173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928"/>
                </a:lnSpc>
              </a:pPr>
              <a:r>
                <a:rPr lang="ko-KR" altLang="en-US" sz="5930" b="1" dirty="0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논문 소개</a:t>
              </a:r>
              <a:endParaRPr lang="en-US" sz="5930" b="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643056" y="3271710"/>
              <a:ext cx="11086188" cy="19173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928"/>
                </a:lnSpc>
              </a:pPr>
              <a:r>
                <a:rPr lang="ko-KR" altLang="en-US" sz="5930" b="1" dirty="0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배경 지식</a:t>
              </a:r>
              <a:endParaRPr lang="en-US" sz="5930" b="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endParaRPr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0" y="0"/>
              <a:ext cx="2503905" cy="2503905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3181759"/>
              <a:ext cx="2503905" cy="2503905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97341" y="591278"/>
              <a:ext cx="1309223" cy="119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sz="5361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8956" y="3773037"/>
              <a:ext cx="1645993" cy="119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sz="5361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02</a:t>
              </a: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251953" y="2491352"/>
              <a:ext cx="17112047" cy="0"/>
            </a:xfrm>
            <a:prstGeom prst="line">
              <a:avLst/>
            </a:prstGeom>
            <a:ln w="25106" cap="flat">
              <a:solidFill>
                <a:srgbClr val="EB1D2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251953" y="5673112"/>
              <a:ext cx="17112047" cy="0"/>
            </a:xfrm>
            <a:prstGeom prst="line">
              <a:avLst/>
            </a:prstGeom>
            <a:ln w="25106" cap="flat">
              <a:solidFill>
                <a:srgbClr val="EB1D2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3056" y="6453472"/>
              <a:ext cx="6412588" cy="19173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928"/>
                </a:lnSpc>
              </a:pPr>
              <a:r>
                <a:rPr lang="ko-KR" altLang="en-US" sz="5930" b="1" dirty="0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논문 리뷰</a:t>
              </a:r>
              <a:endParaRPr lang="en-US" sz="5930" b="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endParaRP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6363519"/>
              <a:ext cx="2503905" cy="2503905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420817" y="6954796"/>
              <a:ext cx="1662272" cy="119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sz="5361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251953" y="8854871"/>
              <a:ext cx="17112047" cy="0"/>
            </a:xfrm>
            <a:prstGeom prst="line">
              <a:avLst/>
            </a:prstGeom>
            <a:ln w="25106" cap="flat">
              <a:solidFill>
                <a:srgbClr val="EB1D2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6815F-1564-7F06-3AF1-16F51DA3E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C5C8D4A-7F64-D93A-0EE9-50D6FA8C8258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AE475E2-44E2-C20E-80FB-7C237B25240B}"/>
              </a:ext>
            </a:extLst>
          </p:cNvPr>
          <p:cNvSpPr txBox="1"/>
          <p:nvPr/>
        </p:nvSpPr>
        <p:spPr>
          <a:xfrm>
            <a:off x="757128" y="-135122"/>
            <a:ext cx="9457804" cy="727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  <a:sym typeface="Source Han Sans KR Bold"/>
              </a:rPr>
              <a:t>논문 소개</a:t>
            </a:r>
            <a:endParaRPr lang="en-US" sz="2800" b="1" dirty="0">
              <a:solidFill>
                <a:srgbClr val="EB1D26"/>
              </a:solidFill>
              <a:latin typeface="+mj-lt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998E514-4822-F844-66D1-3BDF9ACAF0E4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FC6520C7-AC46-738E-1AD6-8B8658197BD1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C4998CD6-5094-FD6B-7429-47C2929F670A}"/>
                </a:ext>
              </a:extLst>
            </p:cNvPr>
            <p:cNvSpPr txBox="1"/>
            <p:nvPr/>
          </p:nvSpPr>
          <p:spPr>
            <a:xfrm>
              <a:off x="900917" y="1226520"/>
              <a:ext cx="1429926" cy="22104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1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FE22E91-F80A-7D00-6582-C3556B3F7EBC}"/>
              </a:ext>
            </a:extLst>
          </p:cNvPr>
          <p:cNvSpPr txBox="1"/>
          <p:nvPr/>
        </p:nvSpPr>
        <p:spPr>
          <a:xfrm>
            <a:off x="-1447800" y="800100"/>
            <a:ext cx="17145000" cy="1806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29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제목</a:t>
            </a:r>
            <a:r>
              <a:rPr kumimoji="1" lang="en-US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:</a:t>
            </a:r>
            <a:r>
              <a:rPr kumimoji="1" lang="ko-KR" altLang="en-US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en-US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Boosting Adversarial attacks with Momentum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          </a:t>
            </a:r>
            <a:r>
              <a:rPr kumimoji="1" lang="en-US" altLang="ko-KR" sz="28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</a:t>
            </a:r>
            <a:r>
              <a:rPr kumimoji="1" lang="ko-KR" altLang="en-US" sz="28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모멘텀을 활용한 적대적 공격 향상</a:t>
            </a:r>
            <a:r>
              <a:rPr kumimoji="1" lang="en-US" altLang="ko-KR" sz="28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kumimoji="1" lang="ko-KR" altLang="en-US" sz="29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                                     저자</a:t>
            </a:r>
            <a:r>
              <a:rPr kumimoji="1" lang="en-US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:</a:t>
            </a:r>
            <a:r>
              <a:rPr kumimoji="1" lang="ko-KR" altLang="en-US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en" altLang="ko-KR" sz="29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Yinpeng</a:t>
            </a:r>
            <a:r>
              <a:rPr kumimoji="1" lang="en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Dong</a:t>
            </a:r>
            <a:r>
              <a:rPr kumimoji="1" lang="en-US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,</a:t>
            </a:r>
            <a:r>
              <a:rPr kumimoji="1" lang="ko-KR" altLang="en-US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en" altLang="ko-KR" sz="29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Fangzhou</a:t>
            </a:r>
            <a:r>
              <a:rPr kumimoji="1" lang="en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Liao</a:t>
            </a:r>
            <a:r>
              <a:rPr kumimoji="1" lang="en-US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,</a:t>
            </a:r>
            <a:r>
              <a:rPr kumimoji="1" lang="ko-KR" altLang="en-US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en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Tianyu Pang</a:t>
            </a:r>
            <a:r>
              <a:rPr kumimoji="1" lang="ko-KR" altLang="en-US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en-US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,</a:t>
            </a:r>
            <a:r>
              <a:rPr kumimoji="1" lang="en" altLang="ko-KR" sz="29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Xiaolin</a:t>
            </a:r>
            <a:r>
              <a:rPr kumimoji="1" lang="en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Hu</a:t>
            </a:r>
            <a:r>
              <a:rPr kumimoji="1" lang="en-US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,</a:t>
            </a:r>
            <a:r>
              <a:rPr kumimoji="1" lang="ko-KR" altLang="en-US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en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Jun Zhu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2A765BB-ED1A-D51B-8706-7F861330B3F6}"/>
              </a:ext>
            </a:extLst>
          </p:cNvPr>
          <p:cNvGrpSpPr/>
          <p:nvPr/>
        </p:nvGrpSpPr>
        <p:grpSpPr>
          <a:xfrm>
            <a:off x="4805060" y="3273493"/>
            <a:ext cx="7386940" cy="6823007"/>
            <a:chOff x="136897" y="911293"/>
            <a:chExt cx="7386940" cy="6823007"/>
          </a:xfrm>
        </p:grpSpPr>
        <p:pic>
          <p:nvPicPr>
            <p:cNvPr id="7" name="그림 6" descr="텍스트, 스크린샷, 디자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3E4CA6A0-2D3A-C493-00C2-1221A88EE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897" y="911293"/>
              <a:ext cx="7386940" cy="642884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7CCE21-1506-5D6F-7CF7-DBF045128C47}"/>
                </a:ext>
              </a:extLst>
            </p:cNvPr>
            <p:cNvSpPr txBox="1"/>
            <p:nvPr/>
          </p:nvSpPr>
          <p:spPr>
            <a:xfrm>
              <a:off x="146589" y="7353300"/>
              <a:ext cx="6884178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 err="1">
                  <a:solidFill>
                    <a:schemeClr val="bg1">
                      <a:lumMod val="65000"/>
                    </a:schemeClr>
                  </a:solidFill>
                </a:rPr>
                <a:t>url</a:t>
              </a:r>
              <a:r>
                <a:rPr kumimoji="1" lang="en-US" altLang="ko-KR" dirty="0">
                  <a:solidFill>
                    <a:schemeClr val="bg1">
                      <a:lumMod val="65000"/>
                    </a:schemeClr>
                  </a:solidFill>
                </a:rPr>
                <a:t>:</a:t>
              </a:r>
              <a:r>
                <a:rPr kumimoji="1" lang="ko-KR" altLang="en-US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kumimoji="1" lang="en" altLang="ko-KR" dirty="0">
                  <a:solidFill>
                    <a:schemeClr val="bg1">
                      <a:lumMod val="65000"/>
                    </a:schemeClr>
                  </a:solidFill>
                </a:rPr>
                <a:t>https://</a:t>
              </a:r>
              <a:r>
                <a:rPr kumimoji="1" lang="en" altLang="ko-KR" dirty="0" err="1">
                  <a:solidFill>
                    <a:schemeClr val="bg1">
                      <a:lumMod val="65000"/>
                    </a:schemeClr>
                  </a:solidFill>
                </a:rPr>
                <a:t>arxiv.org</a:t>
              </a:r>
              <a:r>
                <a:rPr kumimoji="1" lang="en" altLang="ko-KR" dirty="0">
                  <a:solidFill>
                    <a:schemeClr val="bg1">
                      <a:lumMod val="65000"/>
                    </a:schemeClr>
                  </a:solidFill>
                </a:rPr>
                <a:t>/abs/1710.06081</a:t>
              </a:r>
              <a:endParaRPr kumimoji="1" lang="ko-KR" alt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A7EFEA8-504C-7EF8-3735-56A5CD87837B}"/>
              </a:ext>
            </a:extLst>
          </p:cNvPr>
          <p:cNvSpPr txBox="1"/>
          <p:nvPr/>
        </p:nvSpPr>
        <p:spPr>
          <a:xfrm>
            <a:off x="2590800" y="2699891"/>
            <a:ext cx="151638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9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등재</a:t>
            </a:r>
            <a:r>
              <a:rPr kumimoji="1" lang="en-US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: </a:t>
            </a:r>
            <a:r>
              <a:rPr kumimoji="1" lang="en" altLang="ko-KR" sz="29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CVPR 2018 (IEEE Conference on Computer Vision and Pattern Recognition)</a:t>
            </a:r>
            <a:endParaRPr kumimoji="1" lang="ko-KR" altLang="en-US" sz="29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0E44371-4E0A-9883-4DE0-8283E08B626A}"/>
              </a:ext>
            </a:extLst>
          </p:cNvPr>
          <p:cNvSpPr/>
          <p:nvPr/>
        </p:nvSpPr>
        <p:spPr>
          <a:xfrm>
            <a:off x="2181951" y="8208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2F19567-2E88-AD43-5DD3-CEB3E4663DB3}"/>
              </a:ext>
            </a:extLst>
          </p:cNvPr>
          <p:cNvSpPr/>
          <p:nvPr/>
        </p:nvSpPr>
        <p:spPr>
          <a:xfrm>
            <a:off x="2165909" y="2111739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A6B09744-CED9-C12A-63F9-B4F9086F1086}"/>
              </a:ext>
            </a:extLst>
          </p:cNvPr>
          <p:cNvSpPr/>
          <p:nvPr/>
        </p:nvSpPr>
        <p:spPr>
          <a:xfrm>
            <a:off x="2181951" y="2806072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99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C75D0-0562-2812-C8B5-5723EFED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A388885-856D-FAF5-6702-F403B4E02CEB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0EDF682-82E6-0691-0261-9B9E9F70F012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배경 지식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–</a:t>
            </a: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Adversarial examples</a:t>
            </a:r>
            <a:endParaRPr lang="en-US" sz="2800" b="1" dirty="0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071555E-11D0-EB12-921E-58D00CFFE749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3524065D-C468-C595-F48E-8BEDFE1BC810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7B764A94-E565-8F10-90CF-293FF44629A5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AEBBBDA-6739-1C83-480D-16939C281404}"/>
              </a:ext>
            </a:extLst>
          </p:cNvPr>
          <p:cNvSpPr txBox="1"/>
          <p:nvPr/>
        </p:nvSpPr>
        <p:spPr>
          <a:xfrm>
            <a:off x="544276" y="1059240"/>
            <a:ext cx="137051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Adversarial examples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: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모델을 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혼란시킬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목적으로 만들어진 특수한 입력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모델은 적대적 샘플로 인해 잘못된 결과를 출력함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.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인간의 시각체계로도 인지하기 어려운 미세한 노이즈를 삽입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.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공격 방법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: FGSM, JSMA, </a:t>
            </a:r>
            <a:r>
              <a:rPr kumimoji="1" lang="en-US" altLang="ko-KR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DeepFool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7617BD5-3003-66D9-0DC9-F4BF7D85F4E0}"/>
              </a:ext>
            </a:extLst>
          </p:cNvPr>
          <p:cNvGrpSpPr/>
          <p:nvPr/>
        </p:nvGrpSpPr>
        <p:grpSpPr>
          <a:xfrm>
            <a:off x="3424128" y="3749715"/>
            <a:ext cx="11357893" cy="4213185"/>
            <a:chOff x="762000" y="2298765"/>
            <a:chExt cx="11357893" cy="4213185"/>
          </a:xfrm>
        </p:grpSpPr>
        <p:pic>
          <p:nvPicPr>
            <p:cNvPr id="12" name="그림 11" descr="포유류, 텍스트, 판다, 곰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DE00D767-D185-99E0-D381-14CA40086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2298765"/>
              <a:ext cx="11357893" cy="4140135"/>
            </a:xfrm>
            <a:prstGeom prst="rect">
              <a:avLst/>
            </a:prstGeom>
          </p:spPr>
        </p:pic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C2707D09-72F7-A1EC-430B-6E755241D92F}"/>
                </a:ext>
              </a:extLst>
            </p:cNvPr>
            <p:cNvSpPr/>
            <p:nvPr/>
          </p:nvSpPr>
          <p:spPr>
            <a:xfrm>
              <a:off x="1676400" y="5981700"/>
              <a:ext cx="1219200" cy="457200"/>
            </a:xfrm>
            <a:prstGeom prst="roundRect">
              <a:avLst/>
            </a:prstGeom>
            <a:noFill/>
            <a:ln w="28575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90D4CBDB-A5EF-3AB4-749D-7D2DF10E48B5}"/>
                </a:ext>
              </a:extLst>
            </p:cNvPr>
            <p:cNvSpPr/>
            <p:nvPr/>
          </p:nvSpPr>
          <p:spPr>
            <a:xfrm>
              <a:off x="9906000" y="6054750"/>
              <a:ext cx="1371600" cy="457200"/>
            </a:xfrm>
            <a:prstGeom prst="roundRect">
              <a:avLst/>
            </a:prstGeom>
            <a:noFill/>
            <a:ln w="28575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95332914-0023-EB38-A7E6-ED29D5061948}"/>
                </a:ext>
              </a:extLst>
            </p:cNvPr>
            <p:cNvSpPr/>
            <p:nvPr/>
          </p:nvSpPr>
          <p:spPr>
            <a:xfrm>
              <a:off x="3962400" y="2312802"/>
              <a:ext cx="4572000" cy="4126098"/>
            </a:xfrm>
            <a:prstGeom prst="roundRect">
              <a:avLst/>
            </a:prstGeom>
            <a:noFill/>
            <a:ln w="28575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9" name="Freeform 11">
            <a:extLst>
              <a:ext uri="{FF2B5EF4-FFF2-40B4-BE49-F238E27FC236}">
                <a16:creationId xmlns:a16="http://schemas.microsoft.com/office/drawing/2014/main" id="{F75F914B-DE17-3280-AF4A-4AA77DBDE815}"/>
              </a:ext>
            </a:extLst>
          </p:cNvPr>
          <p:cNvSpPr/>
          <p:nvPr/>
        </p:nvSpPr>
        <p:spPr>
          <a:xfrm>
            <a:off x="222417" y="1104900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1570DF-D9DF-0707-7A96-E3AD89B9C780}"/>
              </a:ext>
            </a:extLst>
          </p:cNvPr>
          <p:cNvSpPr txBox="1"/>
          <p:nvPr/>
        </p:nvSpPr>
        <p:spPr>
          <a:xfrm>
            <a:off x="3738672" y="8141613"/>
            <a:ext cx="266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일반</a:t>
            </a:r>
            <a:r>
              <a:rPr kumimoji="1" lang="en-US" altLang="ko-KR" sz="20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: </a:t>
            </a:r>
            <a:r>
              <a:rPr kumimoji="1" lang="ko-KR" altLang="en-US" sz="20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판다</a:t>
            </a:r>
            <a:r>
              <a:rPr kumimoji="1" lang="en-US" altLang="ko-KR" sz="20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(panda)</a:t>
            </a:r>
            <a:endParaRPr kumimoji="1" lang="ko-KR" altLang="en-US" sz="2000" dirty="0"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07B61E-4ED6-B033-A897-E4E0383C09C1}"/>
              </a:ext>
            </a:extLst>
          </p:cNvPr>
          <p:cNvSpPr txBox="1"/>
          <p:nvPr/>
        </p:nvSpPr>
        <p:spPr>
          <a:xfrm>
            <a:off x="11112012" y="8217813"/>
            <a:ext cx="4356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적대적 샘플</a:t>
            </a:r>
            <a:r>
              <a:rPr kumimoji="1" lang="en-US" altLang="ko-KR" sz="20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: </a:t>
            </a:r>
            <a:r>
              <a:rPr kumimoji="1" lang="ko-KR" altLang="en-US" sz="20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긴팔원숭이</a:t>
            </a:r>
            <a:r>
              <a:rPr kumimoji="1" lang="en-US" altLang="ko-KR" sz="20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(gibbon)</a:t>
            </a:r>
            <a:endParaRPr kumimoji="1" lang="ko-KR" altLang="en-US" sz="2000" dirty="0"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7A59E2-26CB-9AFB-796B-E254F63078A4}"/>
              </a:ext>
            </a:extLst>
          </p:cNvPr>
          <p:cNvSpPr txBox="1"/>
          <p:nvPr/>
        </p:nvSpPr>
        <p:spPr>
          <a:xfrm>
            <a:off x="7773603" y="8217813"/>
            <a:ext cx="2132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노이즈 추가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6EE7A9-201D-9616-BC76-F6835695BCBF}"/>
              </a:ext>
            </a:extLst>
          </p:cNvPr>
          <p:cNvSpPr txBox="1"/>
          <p:nvPr/>
        </p:nvSpPr>
        <p:spPr>
          <a:xfrm>
            <a:off x="3278593" y="3314700"/>
            <a:ext cx="16744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1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FGSM </a:t>
            </a:r>
            <a:r>
              <a:rPr kumimoji="1" lang="ko-KR" altLang="en-US" sz="21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2287826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D1865-A1E5-684B-FD44-748D880EE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E6D26A9-648E-7C79-369F-4CC21314ED73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FEA7CB1-2519-576F-DD45-05345C9D1B88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배경 지식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–</a:t>
            </a: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Attack</a:t>
            </a:r>
            <a:endParaRPr lang="en-US" sz="2800" b="1" dirty="0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3EF7749-CB27-8631-2CD4-B3B2AE2B70E2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64B06B93-E0DD-B56E-F961-9C5970841C44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AA8A0E99-372E-EB28-F2A9-8AD20871CD6B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596F28A-7458-E9EF-4293-43009052880D}"/>
              </a:ext>
            </a:extLst>
          </p:cNvPr>
          <p:cNvSpPr txBox="1"/>
          <p:nvPr/>
        </p:nvSpPr>
        <p:spPr>
          <a:xfrm>
            <a:off x="544276" y="1025386"/>
            <a:ext cx="149243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white box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공격자가 모델에 대한 </a:t>
            </a:r>
            <a:r>
              <a:rPr kumimoji="1" lang="ko-KR" altLang="en-US" sz="2400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모든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정보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네트워크 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아키텍쳐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,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가중치 등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를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알고 있음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.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back-propagation(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역전파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를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통해 모델의 손실을 미분하여 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그래디언트를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계산 및 적대적 샘플을 생성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black box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공격자가 모델에 대해 잘 모름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(input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에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대한 최종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output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만 아는 경우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).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유사 모델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을 통해 적대적 샘플을 만들고 이를 공격 대상 모델에 적용하여 공격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2F6C3-0F6F-C46E-0B57-6F5F209FEA56}"/>
              </a:ext>
            </a:extLst>
          </p:cNvPr>
          <p:cNvSpPr txBox="1"/>
          <p:nvPr/>
        </p:nvSpPr>
        <p:spPr>
          <a:xfrm>
            <a:off x="3581400" y="8455389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latin typeface="Source Han Sans KR Bold" panose="020B0800000000000000" pitchFamily="34" charset="-128"/>
              </a:rPr>
              <a:t>white box</a:t>
            </a:r>
            <a:endParaRPr kumimoji="1" lang="ko-KR" altLang="en-US" sz="2000" dirty="0">
              <a:latin typeface="Source Han Sans KR Bold" panose="020B0800000000000000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82481-118B-61B0-871C-9ADE99261306}"/>
              </a:ext>
            </a:extLst>
          </p:cNvPr>
          <p:cNvSpPr txBox="1"/>
          <p:nvPr/>
        </p:nvSpPr>
        <p:spPr>
          <a:xfrm>
            <a:off x="11642578" y="84201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latin typeface="Source Han Sans KR Bold" panose="020B0800000000000000" pitchFamily="34" charset="-128"/>
              </a:rPr>
              <a:t>black box</a:t>
            </a:r>
            <a:endParaRPr kumimoji="1" lang="ko-KR" altLang="en-US" sz="2000" dirty="0">
              <a:latin typeface="Source Han Sans KR Bold" panose="020B0800000000000000" pitchFamily="34" charset="-128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FFCCB44-EC13-D5F2-308E-44CD7C4F9C79}"/>
              </a:ext>
            </a:extLst>
          </p:cNvPr>
          <p:cNvGrpSpPr/>
          <p:nvPr/>
        </p:nvGrpSpPr>
        <p:grpSpPr>
          <a:xfrm>
            <a:off x="1143000" y="4076700"/>
            <a:ext cx="7756317" cy="4121214"/>
            <a:chOff x="1143000" y="4076700"/>
            <a:chExt cx="7756317" cy="4121214"/>
          </a:xfrm>
        </p:grpSpPr>
        <p:pic>
          <p:nvPicPr>
            <p:cNvPr id="10" name="그림 9" descr="도표, 텍스트, 폰트, 직사각형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5D2B19A-48BA-A14E-A93A-BEEA2B5F5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06"/>
            <a:stretch/>
          </p:blipFill>
          <p:spPr>
            <a:xfrm>
              <a:off x="1143000" y="4076700"/>
              <a:ext cx="7756317" cy="4121214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A4364C1-2335-1F26-22B5-6C50DAECAA91}"/>
                </a:ext>
              </a:extLst>
            </p:cNvPr>
            <p:cNvSpPr/>
            <p:nvPr/>
          </p:nvSpPr>
          <p:spPr>
            <a:xfrm>
              <a:off x="2971800" y="4686300"/>
              <a:ext cx="22098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6A613AB-572B-6CA6-41CB-E436CBBE477D}"/>
              </a:ext>
            </a:extLst>
          </p:cNvPr>
          <p:cNvGrpSpPr/>
          <p:nvPr/>
        </p:nvGrpSpPr>
        <p:grpSpPr>
          <a:xfrm>
            <a:off x="9364619" y="4076700"/>
            <a:ext cx="7756318" cy="4121214"/>
            <a:chOff x="9364619" y="4076700"/>
            <a:chExt cx="7756318" cy="4121214"/>
          </a:xfrm>
        </p:grpSpPr>
        <p:pic>
          <p:nvPicPr>
            <p:cNvPr id="5" name="그림 4" descr="도표, 텍스트, 폰트, 직사각형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980C571-FE0C-E7A3-E9E2-C73ADA0F6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306"/>
            <a:stretch/>
          </p:blipFill>
          <p:spPr>
            <a:xfrm>
              <a:off x="9364619" y="4076700"/>
              <a:ext cx="7756318" cy="4121214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1DACDA1-CFE5-2D96-383C-71247B92B44E}"/>
                </a:ext>
              </a:extLst>
            </p:cNvPr>
            <p:cNvSpPr/>
            <p:nvPr/>
          </p:nvSpPr>
          <p:spPr>
            <a:xfrm>
              <a:off x="11125200" y="4686300"/>
              <a:ext cx="2286000" cy="4572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7" name="Freeform 11">
            <a:extLst>
              <a:ext uri="{FF2B5EF4-FFF2-40B4-BE49-F238E27FC236}">
                <a16:creationId xmlns:a16="http://schemas.microsoft.com/office/drawing/2014/main" id="{F916C9C8-1BAD-7FC8-38B8-D7BCDA840862}"/>
              </a:ext>
            </a:extLst>
          </p:cNvPr>
          <p:cNvSpPr/>
          <p:nvPr/>
        </p:nvSpPr>
        <p:spPr>
          <a:xfrm>
            <a:off x="222417" y="1043143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4A1DAC71-C31C-5118-AE1B-7673C2D872DF}"/>
              </a:ext>
            </a:extLst>
          </p:cNvPr>
          <p:cNvSpPr/>
          <p:nvPr/>
        </p:nvSpPr>
        <p:spPr>
          <a:xfrm>
            <a:off x="228600" y="2095500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12ADD27-AB29-E635-DF5F-74CB71D765C4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BA5C497-4097-4360-1632-AB5FA56B284B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9B81E3E8-D315-F0C6-17A3-87AF84C66543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7987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21606-3D12-C9A6-97E9-AE8D9E05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AE9D59D-D3C3-DFBB-0E7F-BF3956132247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41C44F9-65F9-73EC-B042-1EE975806786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배경 지식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–</a:t>
            </a: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FGSM</a:t>
            </a:r>
            <a:endParaRPr lang="en-US" sz="2800" b="1" dirty="0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FC7A3CA-24F7-BAC2-B15F-A367E47CC159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51D74AC4-0BA4-34C7-CA88-470D46692CB1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63A2BE84-2693-A65A-F862-78B719897C9E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56495A-0B9B-DADD-B4DC-20AD7B01897D}"/>
                  </a:ext>
                </a:extLst>
              </p:cNvPr>
              <p:cNvSpPr txBox="1"/>
              <p:nvPr/>
            </p:nvSpPr>
            <p:spPr>
              <a:xfrm>
                <a:off x="544276" y="1025386"/>
                <a:ext cx="13705124" cy="4266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2400" b="1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FGSM(Fast Gradient Sign Method)</a:t>
                </a:r>
              </a:p>
              <a:p>
                <a:pPr marL="914400" lvl="1" indent="-457200">
                  <a:buFont typeface="시스템 서체 일반체"/>
                  <a:buChar char="-"/>
                </a:pPr>
                <a:r>
                  <a:rPr kumimoji="1" lang="ko-KR" altLang="en-US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입력 데이터에 대한 손실 함수의 </a:t>
                </a:r>
                <a:r>
                  <a:rPr kumimoji="1" lang="ko-KR" altLang="en-US" sz="2400" dirty="0" err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그래디언트를</a:t>
                </a:r>
                <a:r>
                  <a:rPr kumimoji="1" lang="ko-KR" altLang="en-US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 계산해</a:t>
                </a:r>
                <a:r>
                  <a: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 </a:t>
                </a:r>
                <a:r>
                  <a:rPr kumimoji="1" lang="ko-KR" altLang="en-US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그 손실을 </a:t>
                </a:r>
                <a:r>
                  <a:rPr kumimoji="1" lang="ko-KR" altLang="en-US" sz="2400" b="1" dirty="0">
                    <a:solidFill>
                      <a:srgbClr val="EC1D26"/>
                    </a:solidFill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최대화</a:t>
                </a:r>
                <a:r>
                  <a:rPr kumimoji="1" lang="ko-KR" altLang="en-US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하는 적대적 샘플을 생성</a:t>
                </a:r>
                <a:endPara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914400" lvl="1" indent="-457200">
                  <a:buFont typeface="시스템 서체 일반체"/>
                  <a:buChar char="-"/>
                </a:pPr>
                <a:r>
                  <a:rPr kumimoji="1" lang="ko-KR" altLang="en-US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대상</a:t>
                </a:r>
                <a:r>
                  <a: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(</a:t>
                </a:r>
                <a:r>
                  <a:rPr kumimoji="1" lang="ko-KR" altLang="en-US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적대적 샘플</a:t>
                </a:r>
                <a:r>
                  <a: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)</a:t>
                </a:r>
                <a:r>
                  <a:rPr kumimoji="1" lang="ko-KR" altLang="en-US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을 </a:t>
                </a:r>
                <a:r>
                  <a:rPr kumimoji="1" lang="ko-KR" altLang="en-US" sz="2400" b="1" dirty="0">
                    <a:solidFill>
                      <a:srgbClr val="EC1D26"/>
                    </a:solidFill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한 번</a:t>
                </a:r>
                <a:r>
                  <a:rPr kumimoji="1" lang="ko-KR" altLang="en-US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만 업데이트함</a:t>
                </a:r>
                <a:r>
                  <a: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.</a:t>
                </a:r>
              </a:p>
              <a:p>
                <a:pPr marL="914400" lvl="1" indent="-457200">
                  <a:buFont typeface="시스템 서체 일반체"/>
                  <a:buChar char="-"/>
                </a:pPr>
                <a:r>
                  <a:rPr kumimoji="1" lang="ko-KR" altLang="en-US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수식</a:t>
                </a:r>
                <a:r>
                  <a: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:</a:t>
                </a:r>
              </a:p>
              <a:p>
                <a:pPr marL="914400" lvl="1" indent="-457200">
                  <a:buFont typeface="시스템 서체 일반체"/>
                  <a:buChar char="-"/>
                </a:pPr>
                <a:endPara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914400" lvl="1" indent="-457200">
                  <a:buFont typeface="시스템 서체 일반체"/>
                  <a:buChar char="-"/>
                </a:pPr>
                <a:endPara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914400" lvl="1" indent="-457200">
                  <a:buFont typeface="시스템 서체 일반체"/>
                  <a:buChar char="-"/>
                </a:pPr>
                <a:endPara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914400" lvl="1" indent="-457200">
                  <a:buFont typeface="시스템 서체 일반체"/>
                  <a:buChar char="-"/>
                </a:pPr>
                <a:endPara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lvl="1"/>
                <a:endPara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914400" lvl="1" indent="-457200">
                  <a:buFont typeface="시스템 서체 일반체"/>
                  <a:buChar char="-"/>
                </a:pPr>
                <a14:m>
                  <m:oMath xmlns:m="http://schemas.openxmlformats.org/officeDocument/2006/math"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kumimoji="1" lang="en-US" altLang="ko-K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:</a:t>
                </a:r>
              </a:p>
              <a:p>
                <a:pPr marL="914400" lvl="1" indent="-457200">
                  <a:buFont typeface="시스템 서체 일반체"/>
                  <a:buChar char="-"/>
                </a:pPr>
                <a:endPara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56495A-0B9B-DADD-B4DC-20AD7B018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76" y="1025386"/>
                <a:ext cx="13705124" cy="4266745"/>
              </a:xfrm>
              <a:prstGeom prst="rect">
                <a:avLst/>
              </a:prstGeom>
              <a:blipFill>
                <a:blip r:embed="rId3"/>
                <a:stretch>
                  <a:fillRect l="-648" t="-11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 11">
            <a:extLst>
              <a:ext uri="{FF2B5EF4-FFF2-40B4-BE49-F238E27FC236}">
                <a16:creationId xmlns:a16="http://schemas.microsoft.com/office/drawing/2014/main" id="{18BC4058-33AE-A0B9-880A-4FDC9BD175A7}"/>
              </a:ext>
            </a:extLst>
          </p:cNvPr>
          <p:cNvSpPr/>
          <p:nvPr/>
        </p:nvSpPr>
        <p:spPr>
          <a:xfrm>
            <a:off x="222417" y="1043143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BCB5D65-0C2A-F9BA-D057-52C93F662F41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EE46CD71-8D36-B89C-04F7-996040CB4FCF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964CF3B2-737B-AF10-A498-7370227582AB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0BDBCA4-C0D0-482D-C088-78CD97DC4BEF}"/>
              </a:ext>
            </a:extLst>
          </p:cNvPr>
          <p:cNvGrpSpPr/>
          <p:nvPr/>
        </p:nvGrpSpPr>
        <p:grpSpPr>
          <a:xfrm>
            <a:off x="2304867" y="2367283"/>
            <a:ext cx="13620933" cy="1785617"/>
            <a:chOff x="3276603" y="2905939"/>
            <a:chExt cx="13620933" cy="17856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58B3785-9F18-D585-722C-505253FA2500}"/>
                    </a:ext>
                  </a:extLst>
                </p:cNvPr>
                <p:cNvSpPr txBox="1"/>
                <p:nvPr/>
              </p:nvSpPr>
              <p:spPr>
                <a:xfrm>
                  <a:off x="3276603" y="3537464"/>
                  <a:ext cx="6934199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3200" b="0" i="1" smtClean="0">
                                <a:latin typeface="Cambria Math" panose="02040503050406030204" pitchFamily="18" charset="0"/>
                              </a:rPr>
                              <m:t>𝑎𝑑𝑣</m:t>
                            </m:r>
                          </m:e>
                          <m:sub>
                            <m:r>
                              <a:rPr kumimoji="1" lang="en-US" altLang="ko-KR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𝑠𝑖𝑔𝑛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ko-KR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ko-K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kumimoji="1" lang="en-US" altLang="ko-KR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oMath>
                    </m:oMathPara>
                  </a14:m>
                  <a:endParaRPr kumimoji="1" lang="ko-KR" altLang="en-US" sz="3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58B3785-9F18-D585-722C-505253FA25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603" y="3537464"/>
                  <a:ext cx="6934199" cy="492443"/>
                </a:xfrm>
                <a:prstGeom prst="rect">
                  <a:avLst/>
                </a:prstGeom>
                <a:blipFill>
                  <a:blip r:embed="rId6"/>
                  <a:stretch>
                    <a:fillRect t="-10000" b="-3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1367640B-579B-4E0B-5786-AE43ABD6F803}"/>
                </a:ext>
              </a:extLst>
            </p:cNvPr>
            <p:cNvSpPr/>
            <p:nvPr/>
          </p:nvSpPr>
          <p:spPr>
            <a:xfrm>
              <a:off x="5829674" y="3504910"/>
              <a:ext cx="3886200" cy="653246"/>
            </a:xfrm>
            <a:prstGeom prst="roundRect">
              <a:avLst/>
            </a:prstGeom>
            <a:noFill/>
            <a:ln w="28575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029B8A2-8D32-3B23-3BE0-994F7916DCE4}"/>
                    </a:ext>
                  </a:extLst>
                </p:cNvPr>
                <p:cNvSpPr txBox="1"/>
                <p:nvPr/>
              </p:nvSpPr>
              <p:spPr>
                <a:xfrm>
                  <a:off x="10516360" y="2905939"/>
                  <a:ext cx="6381176" cy="17856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457200" indent="-457200">
                    <a:buFont typeface="Arial" panose="020B0604020202020204" pitchFamily="34" charset="0"/>
                    <a:buChar char="•"/>
                  </a:pPr>
                  <a:r>
                    <a:rPr kumimoji="1" lang="en-US" altLang="ko-KR" sz="22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𝑥: </a:t>
                  </a:r>
                  <a:r>
                    <a:rPr kumimoji="1" lang="ko-KR" altLang="en-US" sz="22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원본 입력 데이터</a:t>
                  </a:r>
                  <a:endParaRPr kumimoji="1" lang="en-US" altLang="ko-KR" sz="22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marL="457200" indent="-457200">
                    <a:buFont typeface="Arial" panose="020B0604020202020204" pitchFamily="34" charset="0"/>
                    <a:buChar char="•"/>
                  </a:pPr>
                  <a:r>
                    <a:rPr kumimoji="1" lang="en-US" altLang="ko-KR" sz="22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𝑦:</a:t>
                  </a:r>
                  <a:r>
                    <a:rPr kumimoji="1" lang="ko-KR" altLang="en-US" sz="22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원본 입력 레이블</a:t>
                  </a:r>
                  <a:endParaRPr kumimoji="1" lang="en-US" altLang="ko-KR" sz="22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marL="457200" indent="-45720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𝜖</m:t>
                      </m:r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:</m:t>
                      </m:r>
                      <m:r>
                        <a:rPr kumimoji="1" lang="ko-KR" altLang="en-US" sz="2200" i="1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교</m:t>
                      </m:r>
                      <m:r>
                        <a:rPr kumimoji="1" lang="ko-KR" altLang="en-US" sz="2200" i="1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란</m:t>
                      </m:r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(</m:t>
                      </m:r>
                      <m:r>
                        <a:rPr kumimoji="1" lang="ko-KR" altLang="en-US" sz="2200" i="1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노</m:t>
                      </m:r>
                      <m:r>
                        <a:rPr kumimoji="1" lang="ko-KR" altLang="en-US" sz="2200" i="1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이</m:t>
                      </m:r>
                      <m:r>
                        <a:rPr kumimoji="1" lang="ko-KR" altLang="en-US" sz="2200" i="1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즈</m:t>
                      </m:r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)</m:t>
                      </m:r>
                      <m:r>
                        <a:rPr kumimoji="1" lang="ko-KR" altLang="en-US" sz="2200" i="1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의</m:t>
                      </m:r>
                      <m:r>
                        <a:rPr kumimoji="1" lang="ko-KR" altLang="en-US" sz="2200" i="1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 </m:t>
                      </m:r>
                      <m:r>
                        <a:rPr kumimoji="1" lang="ko-KR" altLang="en-US" sz="2200" i="1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크</m:t>
                      </m:r>
                      <m:r>
                        <a:rPr kumimoji="1" lang="ko-KR" altLang="en-US" sz="2200" i="1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기</m:t>
                      </m:r>
                    </m:oMath>
                  </a14:m>
                  <a:endParaRPr kumimoji="1" lang="en-US" altLang="ko-KR" sz="22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marL="457200" indent="-45720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kumimoji="1" lang="en-US" altLang="ko-KR" sz="2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sz="2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ko-KR" sz="2200" dirty="0">
                          <a:latin typeface="Source Han Sans KR Medium" panose="020B0600000000000000" pitchFamily="34" charset="-128"/>
                          <a:ea typeface="Source Han Sans KR Medium" panose="020B0600000000000000" pitchFamily="34" charset="-128"/>
                        </a:rPr>
                        <m:t>𝑥</m:t>
                      </m:r>
                      <m:r>
                        <a:rPr kumimoji="1" lang="ko-KR" altLang="en-US" sz="220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에</m:t>
                      </m:r>
                      <m:r>
                        <a:rPr kumimoji="1" lang="ko-KR" altLang="en-US" sz="220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 </m:t>
                      </m:r>
                      <m:r>
                        <a:rPr kumimoji="1" lang="ko-KR" altLang="en-US" sz="2200" i="1" dirty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대</m:t>
                      </m:r>
                      <m:r>
                        <a:rPr kumimoji="1" lang="ko-KR" altLang="en-US" sz="220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한</m:t>
                      </m:r>
                      <m:r>
                        <a:rPr kumimoji="1" lang="ko-KR" altLang="en-US" sz="220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 </m:t>
                      </m:r>
                      <m:r>
                        <a:rPr kumimoji="1" lang="ko-KR" altLang="en-US" sz="2200" i="1" dirty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손</m:t>
                      </m:r>
                      <m:r>
                        <a:rPr kumimoji="1" lang="ko-KR" altLang="en-US" sz="220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실</m:t>
                      </m:r>
                      <m:r>
                        <a:rPr kumimoji="1" lang="ko-KR" altLang="en-US" sz="2200" i="1" dirty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함</m:t>
                      </m:r>
                      <m:r>
                        <a:rPr kumimoji="1" lang="ko-KR" altLang="en-US" sz="220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수</m:t>
                      </m:r>
                      <m:r>
                        <a:rPr kumimoji="1" lang="ko-KR" altLang="en-US" sz="2200" i="1" dirty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의</m:t>
                      </m:r>
                      <m:r>
                        <a:rPr kumimoji="1" lang="ko-KR" altLang="en-US" sz="2200" i="1" dirty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 </m:t>
                      </m:r>
                      <m:r>
                        <a:rPr kumimoji="1" lang="ko-KR" altLang="en-US" sz="220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그</m:t>
                      </m:r>
                      <m:r>
                        <a:rPr kumimoji="1" lang="ko-KR" altLang="en-US" sz="2200" i="1" dirty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래</m:t>
                      </m:r>
                      <m:r>
                        <a:rPr kumimoji="1" lang="ko-KR" altLang="en-US" sz="220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디</m:t>
                      </m:r>
                      <m:r>
                        <a:rPr kumimoji="1" lang="ko-KR" altLang="en-US" sz="2200" i="1" dirty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언</m:t>
                      </m:r>
                      <m:r>
                        <a:rPr kumimoji="1" lang="ko-KR" altLang="en-US" sz="220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트</m:t>
                      </m:r>
                    </m:oMath>
                  </a14:m>
                  <a:endParaRPr kumimoji="1" lang="en-US" altLang="ko-KR" sz="2200" i="1" dirty="0">
                    <a:latin typeface="Cambria Math" panose="02040503050406030204" pitchFamily="18" charset="0"/>
                    <a:ea typeface="Source Han Sans KR Medium" panose="020B0600000000000000" pitchFamily="34" charset="-128"/>
                  </a:endParaRPr>
                </a:p>
                <a:p>
                  <a:pPr marL="457200" indent="-45720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20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S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𝑖𝑔𝑛</m:t>
                      </m:r>
                      <m:d>
                        <m:dPr>
                          <m:ctrlPr>
                            <a:rPr kumimoji="1" lang="en-US" altLang="ko-KR" sz="2200" b="0" i="1" dirty="0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</m:ctrlPr>
                        </m:dPr>
                        <m:e>
                          <m:r>
                            <a:rPr kumimoji="1" lang="ko-KR" altLang="en-US" sz="2200" b="0" i="1" dirty="0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  <m:t>・</m:t>
                          </m:r>
                        </m:e>
                      </m:d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:</m:t>
                      </m:r>
                    </m:oMath>
                  </a14:m>
                  <a:r>
                    <a:rPr kumimoji="1" lang="en-US" altLang="ko-KR" sz="22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</a:t>
                  </a:r>
                  <a:r>
                    <a:rPr kumimoji="1" lang="ko-KR" altLang="en-US" sz="22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부호</a:t>
                  </a:r>
                  <a:r>
                    <a:rPr kumimoji="1" lang="en-US" altLang="ko-KR" sz="22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(</a:t>
                  </a:r>
                  <a:r>
                    <a:rPr kumimoji="1" lang="ko-KR" altLang="en-US" sz="22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방향</a:t>
                  </a:r>
                  <a:r>
                    <a:rPr kumimoji="1" lang="en-US" altLang="ko-KR" sz="22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)</a:t>
                  </a:r>
                  <a:r>
                    <a:rPr kumimoji="1" lang="ko-KR" altLang="en-US" sz="22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판단</a:t>
                  </a:r>
                  <a:endParaRPr kumimoji="1" lang="en-US" altLang="ko-KR" sz="22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029B8A2-8D32-3B23-3BE0-994F7916D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6360" y="2905939"/>
                  <a:ext cx="6381176" cy="1785617"/>
                </a:xfrm>
                <a:prstGeom prst="rect">
                  <a:avLst/>
                </a:prstGeom>
                <a:blipFill>
                  <a:blip r:embed="rId7"/>
                  <a:stretch>
                    <a:fillRect l="-1190" t="-2128" b="-638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955D5EF-CF74-FB41-BFEC-9C05398DD6E7}"/>
              </a:ext>
            </a:extLst>
          </p:cNvPr>
          <p:cNvGrpSpPr/>
          <p:nvPr/>
        </p:nvGrpSpPr>
        <p:grpSpPr>
          <a:xfrm>
            <a:off x="762000" y="5753100"/>
            <a:ext cx="6324600" cy="3924752"/>
            <a:chOff x="1447800" y="4674632"/>
            <a:chExt cx="6324600" cy="3924752"/>
          </a:xfrm>
        </p:grpSpPr>
        <p:pic>
          <p:nvPicPr>
            <p:cNvPr id="13" name="그림 12" descr="라인, 도표, 원, 그래프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04C18D38-B73F-FE20-469C-E205369D6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7800" y="4674632"/>
              <a:ext cx="6324600" cy="3924752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C8AC999-D9B9-BBB4-82FD-439310C159B8}"/>
                </a:ext>
              </a:extLst>
            </p:cNvPr>
            <p:cNvSpPr/>
            <p:nvPr/>
          </p:nvSpPr>
          <p:spPr>
            <a:xfrm>
              <a:off x="3695700" y="8284500"/>
              <a:ext cx="11811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Han Sans KR Medium" panose="020B0600000000000000" pitchFamily="34" charset="-128"/>
                  <a:ea typeface="Source Han Sans KR Medium" panose="020B0600000000000000" pitchFamily="34" charset="-128"/>
                  <a:cs typeface="+mn-cs"/>
                </a:rPr>
                <a:t>𝑥</a:t>
              </a:r>
              <a:endParaRPr kumimoji="1" lang="ko-KR" altLang="en-US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D2D9F5D-78CE-7B75-E638-A1FD320994AE}"/>
                </a:ext>
              </a:extLst>
            </p:cNvPr>
            <p:cNvSpPr/>
            <p:nvPr/>
          </p:nvSpPr>
          <p:spPr>
            <a:xfrm>
              <a:off x="3733800" y="5143500"/>
              <a:ext cx="1600200" cy="100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9944961-BED0-AFF8-E9C4-EF81DE309BFD}"/>
                </a:ext>
              </a:extLst>
            </p:cNvPr>
            <p:cNvSpPr/>
            <p:nvPr/>
          </p:nvSpPr>
          <p:spPr>
            <a:xfrm>
              <a:off x="3200400" y="5981700"/>
              <a:ext cx="1752600" cy="121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D4FB293-D56D-36EB-E92F-D3F79AAABE65}"/>
              </a:ext>
            </a:extLst>
          </p:cNvPr>
          <p:cNvSpPr/>
          <p:nvPr/>
        </p:nvSpPr>
        <p:spPr>
          <a:xfrm>
            <a:off x="5181600" y="5742928"/>
            <a:ext cx="1771445" cy="1106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8B06227-BE4B-A3E9-CEB5-FC249AAB0284}"/>
              </a:ext>
            </a:extLst>
          </p:cNvPr>
          <p:cNvCxnSpPr>
            <a:cxnSpLocks/>
          </p:cNvCxnSpPr>
          <p:nvPr/>
        </p:nvCxnSpPr>
        <p:spPr>
          <a:xfrm flipV="1">
            <a:off x="4648200" y="6470953"/>
            <a:ext cx="648111" cy="2025347"/>
          </a:xfrm>
          <a:prstGeom prst="straightConnector1">
            <a:avLst/>
          </a:prstGeom>
          <a:ln w="57150">
            <a:solidFill>
              <a:srgbClr val="EC1D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791B1C1-AE1E-57FE-E869-7F143EB11C96}"/>
              </a:ext>
            </a:extLst>
          </p:cNvPr>
          <p:cNvSpPr txBox="1"/>
          <p:nvPr/>
        </p:nvSpPr>
        <p:spPr>
          <a:xfrm>
            <a:off x="5351281" y="5944969"/>
            <a:ext cx="285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손실이</a:t>
            </a:r>
            <a:endParaRPr kumimoji="1" lang="en-US" altLang="ko-KR" b="1" dirty="0">
              <a:solidFill>
                <a:srgbClr val="EC1D26"/>
              </a:solidFill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r>
              <a:rPr kumimoji="1" lang="ko-KR" altLang="en-US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커지는 방향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9A465047-8566-7D41-FB60-073591EEF7EC}"/>
              </a:ext>
            </a:extLst>
          </p:cNvPr>
          <p:cNvGrpSpPr/>
          <p:nvPr/>
        </p:nvGrpSpPr>
        <p:grpSpPr>
          <a:xfrm>
            <a:off x="8268588" y="5700558"/>
            <a:ext cx="9638412" cy="4014942"/>
            <a:chOff x="8268588" y="5331227"/>
            <a:chExt cx="9638412" cy="4014942"/>
          </a:xfrm>
        </p:grpSpPr>
        <p:pic>
          <p:nvPicPr>
            <p:cNvPr id="45" name="그림 44" descr="스크린샷, 라인, 그래프, 도표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2D73B3F-D161-85A2-209D-ABA4C8902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8588" y="5331227"/>
              <a:ext cx="9638412" cy="4014942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6694F06-D767-F2CC-A643-892551A934DD}"/>
                </a:ext>
              </a:extLst>
            </p:cNvPr>
            <p:cNvSpPr txBox="1"/>
            <p:nvPr/>
          </p:nvSpPr>
          <p:spPr>
            <a:xfrm>
              <a:off x="13525911" y="7545169"/>
              <a:ext cx="285708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b="1" dirty="0">
                  <a:solidFill>
                    <a:srgbClr val="EC1D26"/>
                  </a:solidFill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손실이</a:t>
              </a:r>
              <a:endParaRPr kumimoji="1" lang="en-US" altLang="ko-KR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endParaRPr>
            </a:p>
            <a:p>
              <a:r>
                <a:rPr kumimoji="1" lang="ko-KR" altLang="en-US" b="1" dirty="0">
                  <a:solidFill>
                    <a:srgbClr val="EC1D26"/>
                  </a:solidFill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커지는 방향</a:t>
              </a:r>
            </a:p>
          </p:txBody>
        </p:sp>
      </p:grpSp>
      <p:sp>
        <p:nvSpPr>
          <p:cNvPr id="35" name="타원 34">
            <a:extLst>
              <a:ext uri="{FF2B5EF4-FFF2-40B4-BE49-F238E27FC236}">
                <a16:creationId xmlns:a16="http://schemas.microsoft.com/office/drawing/2014/main" id="{F2EC2C6B-8E31-8380-6328-99A6C5838CD5}"/>
              </a:ext>
            </a:extLst>
          </p:cNvPr>
          <p:cNvSpPr/>
          <p:nvPr/>
        </p:nvSpPr>
        <p:spPr>
          <a:xfrm>
            <a:off x="3429000" y="9362968"/>
            <a:ext cx="326552" cy="326552"/>
          </a:xfrm>
          <a:prstGeom prst="ellipse">
            <a:avLst/>
          </a:prstGeom>
          <a:noFill/>
          <a:ln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FC8DB1-CA95-62A8-AE11-6DE5B96426D1}"/>
              </a:ext>
            </a:extLst>
          </p:cNvPr>
          <p:cNvSpPr txBox="1"/>
          <p:nvPr/>
        </p:nvSpPr>
        <p:spPr>
          <a:xfrm>
            <a:off x="3848100" y="9392428"/>
            <a:ext cx="378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가중치</a:t>
            </a:r>
            <a:r>
              <a:rPr kumimoji="1" lang="en-US" altLang="ko-KR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(weight)</a:t>
            </a:r>
            <a:r>
              <a:rPr kumimoji="1" lang="ko-KR" altLang="en-US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가 아닌 입력 데이터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A2459D-1C75-FF7A-9614-588B987FD52D}"/>
                  </a:ext>
                </a:extLst>
              </p:cNvPr>
              <p:cNvSpPr txBox="1"/>
              <p:nvPr/>
            </p:nvSpPr>
            <p:spPr>
              <a:xfrm>
                <a:off x="1533663" y="5779413"/>
                <a:ext cx="381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ko-KR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A2459D-1C75-FF7A-9614-588B987FD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63" y="5779413"/>
                <a:ext cx="381000" cy="430887"/>
              </a:xfrm>
              <a:prstGeom prst="rect">
                <a:avLst/>
              </a:prstGeom>
              <a:blipFill>
                <a:blip r:embed="rId10"/>
                <a:stretch>
                  <a:fillRect l="-6452" r="-90323" b="-1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200B4981-89E4-81F2-A76F-C7F376FB7338}"/>
              </a:ext>
            </a:extLst>
          </p:cNvPr>
          <p:cNvSpPr txBox="1"/>
          <p:nvPr/>
        </p:nvSpPr>
        <p:spPr>
          <a:xfrm>
            <a:off x="2286000" y="5219700"/>
            <a:ext cx="3454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𝑥</a:t>
            </a:r>
            <a:r>
              <a:rPr kumimoji="1" lang="ko-KR" altLang="en-US" sz="2000" dirty="0" err="1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에</a:t>
            </a:r>
            <a:r>
              <a:rPr kumimoji="1" lang="ko-KR" altLang="en-US" sz="20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 대한 손실함수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A65E697-F345-6024-E158-B5E202362BF7}"/>
                  </a:ext>
                </a:extLst>
              </p:cNvPr>
              <p:cNvSpPr txBox="1"/>
              <p:nvPr/>
            </p:nvSpPr>
            <p:spPr>
              <a:xfrm>
                <a:off x="10820400" y="5219700"/>
                <a:ext cx="4336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2000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1</a:t>
                </a:r>
                <a:r>
                  <a:rPr kumimoji="1" lang="ko-KR" altLang="en-US" sz="2000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차원 데이터에서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Source Han Sans KR Bold" panose="020B0800000000000000" pitchFamily="34" charset="-128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Source Han Sans KR Bold" panose="020B0800000000000000" pitchFamily="34" charset="-128"/>
                          </a:rPr>
                          <m:t>𝒂𝒅𝒗</m:t>
                        </m:r>
                      </m:e>
                      <m:sub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Source Han Sans KR Bold" panose="020B0800000000000000" pitchFamily="34" charset="-128"/>
                          </a:rPr>
                          <m:t>𝒙</m:t>
                        </m:r>
                      </m:sub>
                    </m:sSub>
                  </m:oMath>
                </a14:m>
                <a:r>
                  <a:rPr kumimoji="1" lang="en-US" altLang="ko-KR" sz="2000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000" i="1" dirty="0" smtClean="0">
                            <a:latin typeface="Cambria Math" panose="02040503050406030204" pitchFamily="18" charset="0"/>
                            <a:ea typeface="Source Han Sans KR Bold" panose="020B0800000000000000" pitchFamily="34" charset="-128"/>
                          </a:rPr>
                        </m:ctrlPr>
                      </m:sSupPr>
                      <m:e>
                        <m:r>
                          <a:rPr kumimoji="1" lang="en-US" altLang="ko-KR" sz="2000" b="0" i="1" dirty="0" smtClean="0">
                            <a:latin typeface="Cambria Math" panose="02040503050406030204" pitchFamily="18" charset="0"/>
                            <a:ea typeface="Source Han Sans KR Bold" panose="020B0800000000000000" pitchFamily="34" charset="-128"/>
                          </a:rPr>
                          <m:t>𝑥</m:t>
                        </m:r>
                      </m:e>
                      <m:sup>
                        <m:r>
                          <a:rPr kumimoji="1" lang="en-US" altLang="ko-KR" sz="2000" b="0" i="1" dirty="0" smtClean="0">
                            <a:latin typeface="Cambria Math" panose="02040503050406030204" pitchFamily="18" charset="0"/>
                            <a:ea typeface="Source Han Sans KR Bold" panose="020B0800000000000000" pitchFamily="34" charset="-128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en-US" altLang="ko-KR" sz="2000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)</a:t>
                </a:r>
                <a:r>
                  <a:rPr kumimoji="1" lang="ko-KR" altLang="en-US" sz="2000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생성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A65E697-F345-6024-E158-B5E202362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400" y="5219700"/>
                <a:ext cx="4336844" cy="400110"/>
              </a:xfrm>
              <a:prstGeom prst="rect">
                <a:avLst/>
              </a:prstGeom>
              <a:blipFill>
                <a:blip r:embed="rId11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81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A83CE-3596-85A0-51C3-A8DA9E5F8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CA81A10-0EEE-624D-9E0F-AF404A650B48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5C71956-FC4C-69CB-9128-F25FECC70DFD}"/>
              </a:ext>
            </a:extLst>
          </p:cNvPr>
          <p:cNvSpPr txBox="1"/>
          <p:nvPr/>
        </p:nvSpPr>
        <p:spPr>
          <a:xfrm>
            <a:off x="757128" y="-114300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논문 리뷰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–</a:t>
            </a: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Transfer-based attack(</a:t>
            </a: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전이 기반 공격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)</a:t>
            </a:r>
            <a:endParaRPr lang="en-US" sz="2800" b="1" dirty="0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FBEB546-91B4-38B1-B392-5DFDE9FD620C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CD72D18E-13D8-2DC7-BD7C-EF831B996FD9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4F1CFA1C-7484-F5BE-8D29-4BD60AC1B6B3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718E425-030C-19E3-2006-5A3CC2AB14D9}"/>
              </a:ext>
            </a:extLst>
          </p:cNvPr>
          <p:cNvSpPr txBox="1"/>
          <p:nvPr/>
        </p:nvSpPr>
        <p:spPr>
          <a:xfrm>
            <a:off x="544276" y="1025386"/>
            <a:ext cx="137051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transferability(</a:t>
            </a:r>
            <a:r>
              <a:rPr kumimoji="1" lang="ko-KR" altLang="en-US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전이 가능성</a:t>
            </a:r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적대적 샘플은 모델 사이에서 전이 가능한 특성이 있음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유사한 학습 데이터로 학습한 모델은 유사한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decision boundary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를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가짐 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0B71B0BA-3575-0867-0D97-145B9D5F3ACC}"/>
              </a:ext>
            </a:extLst>
          </p:cNvPr>
          <p:cNvSpPr/>
          <p:nvPr/>
        </p:nvSpPr>
        <p:spPr>
          <a:xfrm>
            <a:off x="222417" y="1043143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7F94703-3298-B7C5-A908-1F2C271EC3CD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680B98C8-D604-5942-95D7-25006A4F63CE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58CB9518-12ED-46A9-A816-59C6E35D9D69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BCF3640-7633-578D-EC17-E664EE998EBA}"/>
              </a:ext>
            </a:extLst>
          </p:cNvPr>
          <p:cNvSpPr txBox="1"/>
          <p:nvPr/>
        </p:nvSpPr>
        <p:spPr>
          <a:xfrm>
            <a:off x="544276" y="2530758"/>
            <a:ext cx="137051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black box </a:t>
            </a:r>
            <a:r>
              <a:rPr kumimoji="1" lang="ko-KR" altLang="en-US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공격 방법</a:t>
            </a:r>
            <a:endParaRPr kumimoji="1" lang="en-US" altLang="ko-KR" sz="2400" b="1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공격자가 공격 대상에 대한 유사 모델을 학습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유사 모델에 대해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white-box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공격을 수행해 적대적 샘플을 생성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해당 샘플을 공격 대상에 적용해 공격을 수행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0C00ABD-B2A7-AE29-C737-2058935FBA70}"/>
              </a:ext>
            </a:extLst>
          </p:cNvPr>
          <p:cNvSpPr/>
          <p:nvPr/>
        </p:nvSpPr>
        <p:spPr>
          <a:xfrm>
            <a:off x="222417" y="2548515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2F347C-1607-5790-6463-70C62F32C672}"/>
              </a:ext>
            </a:extLst>
          </p:cNvPr>
          <p:cNvSpPr txBox="1"/>
          <p:nvPr/>
        </p:nvSpPr>
        <p:spPr>
          <a:xfrm>
            <a:off x="544276" y="4617752"/>
            <a:ext cx="137051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Model Ensemble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여러 모델을 결합해 더 나은 성능을 얻는 기법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Ensemble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기법을 활용한 적대적 학습은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transfer-based attack 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에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대해 높은 방어율을 보임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44DE8AC4-C09C-B13D-C45D-95DCE7BB40E2}"/>
              </a:ext>
            </a:extLst>
          </p:cNvPr>
          <p:cNvSpPr/>
          <p:nvPr/>
        </p:nvSpPr>
        <p:spPr>
          <a:xfrm>
            <a:off x="222417" y="4635509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230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56EBC6-B5F9-BA8A-10E9-0755A1110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854F91F-F951-FF2C-4604-F3E0CE5B70BB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4469F57-EC11-D49B-3367-77B6585F619F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논문 리뷰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–</a:t>
            </a: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MI-FGSM(Momentum Iterative FGSM)</a:t>
            </a:r>
            <a:endParaRPr lang="en-US" sz="2800" b="1" dirty="0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05D3368-DF3F-A04F-54FF-DE908B12FE5C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EB85DF97-12E5-C3E3-DBF5-5D2F66D5E778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B90AAB0D-9AFF-6352-FC82-AF2627DA21D8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83FD0A9-3F29-0126-9E5B-792AD3C66365}"/>
              </a:ext>
            </a:extLst>
          </p:cNvPr>
          <p:cNvSpPr txBox="1"/>
          <p:nvPr/>
        </p:nvSpPr>
        <p:spPr>
          <a:xfrm>
            <a:off x="544276" y="1025386"/>
            <a:ext cx="137051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Momentum(</a:t>
            </a:r>
            <a:r>
              <a:rPr kumimoji="1" lang="ko-KR" altLang="en-US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관성</a:t>
            </a:r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기존 경사 하강법의 단점을 보완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단점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1)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기울기가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0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인 점을 잘 탈출하지 못함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단점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2)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훈련 속도가 느림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원리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 </a:t>
            </a:r>
            <a:r>
              <a:rPr kumimoji="1" lang="ko-KR" altLang="en-US" sz="2400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이전 상태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의 방향을 반영해 더 부드럽게 이동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38E3E2FD-B753-638F-7CBC-7E9363B9DED5}"/>
              </a:ext>
            </a:extLst>
          </p:cNvPr>
          <p:cNvSpPr/>
          <p:nvPr/>
        </p:nvSpPr>
        <p:spPr>
          <a:xfrm>
            <a:off x="222417" y="1043143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EE0AB02-CC07-0FE3-6E02-FD59E896DDE6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38DC2693-9FDD-A706-DEF4-207DE50D082E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DC22EC9F-6E86-4B9A-0ECD-B51E7EC353F6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B5775ED-0B04-906D-9F2B-07E0AF911C1E}"/>
              </a:ext>
            </a:extLst>
          </p:cNvPr>
          <p:cNvSpPr txBox="1"/>
          <p:nvPr/>
        </p:nvSpPr>
        <p:spPr>
          <a:xfrm>
            <a:off x="544276" y="3543300"/>
            <a:ext cx="79901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MI-FGSM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en-US" altLang="ko-KR" sz="2400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Momentum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을 이용한 </a:t>
            </a:r>
            <a:r>
              <a:rPr kumimoji="1" lang="ko-KR" altLang="en-US" sz="2400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반복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적인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FGSM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방식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기존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FGSM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보다 안정적이고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,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강력한 공격을 수행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B9DCC0AF-952F-4981-396B-6194E4DC3EA0}"/>
              </a:ext>
            </a:extLst>
          </p:cNvPr>
          <p:cNvSpPr/>
          <p:nvPr/>
        </p:nvSpPr>
        <p:spPr>
          <a:xfrm>
            <a:off x="222417" y="35610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9911701-F2B2-0799-E3AC-E318F26982CF}"/>
              </a:ext>
            </a:extLst>
          </p:cNvPr>
          <p:cNvGrpSpPr/>
          <p:nvPr/>
        </p:nvGrpSpPr>
        <p:grpSpPr>
          <a:xfrm>
            <a:off x="8632053" y="695064"/>
            <a:ext cx="5820242" cy="4679950"/>
            <a:chOff x="1576596" y="2964378"/>
            <a:chExt cx="5820242" cy="4679950"/>
          </a:xfrm>
        </p:grpSpPr>
        <p:pic>
          <p:nvPicPr>
            <p:cNvPr id="13" name="그림 12" descr="라인, 도표, 그래프, 경사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FAE2C172-8878-2AD3-E395-A91CD30E4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6596" y="2964378"/>
              <a:ext cx="5820242" cy="4679950"/>
            </a:xfrm>
            <a:prstGeom prst="rect">
              <a:avLst/>
            </a:prstGeom>
          </p:spPr>
        </p:pic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7CC83CFD-F63D-3333-F8D0-EA5D88B6CB38}"/>
                </a:ext>
              </a:extLst>
            </p:cNvPr>
            <p:cNvSpPr/>
            <p:nvPr/>
          </p:nvSpPr>
          <p:spPr>
            <a:xfrm>
              <a:off x="3024396" y="4891108"/>
              <a:ext cx="1471404" cy="938192"/>
            </a:xfrm>
            <a:prstGeom prst="roundRect">
              <a:avLst/>
            </a:prstGeom>
            <a:noFill/>
            <a:ln w="28575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36361B7-1127-BE00-12AD-2E4FE2B6A374}"/>
                </a:ext>
              </a:extLst>
            </p:cNvPr>
            <p:cNvSpPr/>
            <p:nvPr/>
          </p:nvSpPr>
          <p:spPr>
            <a:xfrm>
              <a:off x="6629400" y="4686300"/>
              <a:ext cx="767438" cy="137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67B7440-7C1C-4AD2-D9ED-F012684D9B34}"/>
              </a:ext>
            </a:extLst>
          </p:cNvPr>
          <p:cNvSpPr txBox="1"/>
          <p:nvPr/>
        </p:nvSpPr>
        <p:spPr>
          <a:xfrm>
            <a:off x="10439400" y="4874595"/>
            <a:ext cx="4572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solidFill>
                  <a:srgbClr val="EC1D26"/>
                </a:solidFill>
              </a:rPr>
              <a:t>t</a:t>
            </a:r>
            <a:endParaRPr kumimoji="1" lang="ko-KR" altLang="en-US" sz="2400" b="1" dirty="0">
              <a:solidFill>
                <a:srgbClr val="EC1D26"/>
              </a:solidFill>
            </a:endParaRPr>
          </a:p>
        </p:txBody>
      </p: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A07A67A2-2DF8-2358-4D5B-379A22F19F5D}"/>
              </a:ext>
            </a:extLst>
          </p:cNvPr>
          <p:cNvCxnSpPr>
            <a:cxnSpLocks/>
          </p:cNvCxnSpPr>
          <p:nvPr/>
        </p:nvCxnSpPr>
        <p:spPr>
          <a:xfrm>
            <a:off x="10515600" y="3170334"/>
            <a:ext cx="0" cy="1789396"/>
          </a:xfrm>
          <a:prstGeom prst="line">
            <a:avLst/>
          </a:prstGeom>
          <a:ln w="28575">
            <a:solidFill>
              <a:srgbClr val="EC1D26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2BAAC06-F5E8-1118-4427-C27A2A3FF7F4}"/>
              </a:ext>
            </a:extLst>
          </p:cNvPr>
          <p:cNvGrpSpPr/>
          <p:nvPr/>
        </p:nvGrpSpPr>
        <p:grpSpPr>
          <a:xfrm>
            <a:off x="15119012" y="3086100"/>
            <a:ext cx="2313906" cy="677042"/>
            <a:chOff x="14526294" y="1570858"/>
            <a:chExt cx="2313906" cy="677042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FEE86A1-04C8-AFBF-F690-531D406C20A8}"/>
                </a:ext>
              </a:extLst>
            </p:cNvPr>
            <p:cNvCxnSpPr>
              <a:cxnSpLocks/>
            </p:cNvCxnSpPr>
            <p:nvPr/>
          </p:nvCxnSpPr>
          <p:spPr>
            <a:xfrm>
              <a:off x="14554200" y="1570859"/>
              <a:ext cx="824595" cy="677041"/>
            </a:xfrm>
            <a:prstGeom prst="straightConnector1">
              <a:avLst/>
            </a:prstGeom>
            <a:ln w="38100">
              <a:solidFill>
                <a:srgbClr val="0095E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D6B07FC5-25FC-7D88-9B97-D569CAC91BAD}"/>
                </a:ext>
              </a:extLst>
            </p:cNvPr>
            <p:cNvCxnSpPr>
              <a:cxnSpLocks/>
            </p:cNvCxnSpPr>
            <p:nvPr/>
          </p:nvCxnSpPr>
          <p:spPr>
            <a:xfrm>
              <a:off x="14554200" y="1570859"/>
              <a:ext cx="1600200" cy="36000"/>
            </a:xfrm>
            <a:prstGeom prst="straightConnector1">
              <a:avLst/>
            </a:prstGeom>
            <a:ln w="38100">
              <a:solidFill>
                <a:srgbClr val="EC1D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9170B005-E6FF-7648-60A9-FAACFA5BFBAC}"/>
                </a:ext>
              </a:extLst>
            </p:cNvPr>
            <p:cNvCxnSpPr>
              <a:cxnSpLocks/>
            </p:cNvCxnSpPr>
            <p:nvPr/>
          </p:nvCxnSpPr>
          <p:spPr>
            <a:xfrm>
              <a:off x="14526294" y="1570858"/>
              <a:ext cx="2313906" cy="620942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39913E1-5678-2730-15B5-74A18263783F}"/>
              </a:ext>
            </a:extLst>
          </p:cNvPr>
          <p:cNvCxnSpPr>
            <a:cxnSpLocks/>
          </p:cNvCxnSpPr>
          <p:nvPr/>
        </p:nvCxnSpPr>
        <p:spPr>
          <a:xfrm flipV="1">
            <a:off x="11551257" y="3086100"/>
            <a:ext cx="3307743" cy="16686"/>
          </a:xfrm>
          <a:prstGeom prst="straightConnector1">
            <a:avLst/>
          </a:prstGeom>
          <a:ln w="28575">
            <a:solidFill>
              <a:srgbClr val="EC1D2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B7C022E-2E74-61B7-1ED7-9291E3CF32B9}"/>
              </a:ext>
            </a:extLst>
          </p:cNvPr>
          <p:cNvGrpSpPr/>
          <p:nvPr/>
        </p:nvGrpSpPr>
        <p:grpSpPr>
          <a:xfrm>
            <a:off x="15347917" y="3986703"/>
            <a:ext cx="2178083" cy="1121519"/>
            <a:chOff x="15163800" y="3478768"/>
            <a:chExt cx="2178083" cy="1121519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98938737-7E06-E4CC-7B6A-5D227A5FAA6D}"/>
                </a:ext>
              </a:extLst>
            </p:cNvPr>
            <p:cNvGrpSpPr/>
            <p:nvPr/>
          </p:nvGrpSpPr>
          <p:grpSpPr>
            <a:xfrm>
              <a:off x="15163800" y="3859768"/>
              <a:ext cx="2178083" cy="369332"/>
              <a:chOff x="14316337" y="3297721"/>
              <a:chExt cx="2178083" cy="369332"/>
            </a:xfrm>
          </p:grpSpPr>
          <p:sp>
            <p:nvSpPr>
              <p:cNvPr id="47" name="모서리가 둥근 직사각형 46">
                <a:extLst>
                  <a:ext uri="{FF2B5EF4-FFF2-40B4-BE49-F238E27FC236}">
                    <a16:creationId xmlns:a16="http://schemas.microsoft.com/office/drawing/2014/main" id="{0AF62F24-F284-9E47-D944-F20EFECEA69C}"/>
                  </a:ext>
                </a:extLst>
              </p:cNvPr>
              <p:cNvSpPr/>
              <p:nvPr/>
            </p:nvSpPr>
            <p:spPr>
              <a:xfrm>
                <a:off x="14316337" y="3354820"/>
                <a:ext cx="264680" cy="264680"/>
              </a:xfrm>
              <a:prstGeom prst="roundRect">
                <a:avLst/>
              </a:prstGeom>
              <a:solidFill>
                <a:srgbClr val="EC1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7A9A520-5E03-4D8B-FB6E-9BD775A00C4D}"/>
                  </a:ext>
                </a:extLst>
              </p:cNvPr>
              <p:cNvSpPr txBox="1"/>
              <p:nvPr/>
            </p:nvSpPr>
            <p:spPr>
              <a:xfrm>
                <a:off x="14665315" y="3297721"/>
                <a:ext cx="18291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:</a:t>
                </a:r>
                <a:r>
                  <a:rPr kumimoji="1" lang="ko-KR" altLang="en-US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시점 </a:t>
                </a:r>
                <a:r>
                  <a:rPr kumimoji="1" lang="en-US" altLang="ko-KR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t</a:t>
                </a:r>
                <a:r>
                  <a:rPr kumimoji="1" lang="ko-KR" altLang="en-US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의 방향</a:t>
                </a: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018AFDF-F1DF-4BFD-BAAB-C95CDA8103D5}"/>
                </a:ext>
              </a:extLst>
            </p:cNvPr>
            <p:cNvGrpSpPr/>
            <p:nvPr/>
          </p:nvGrpSpPr>
          <p:grpSpPr>
            <a:xfrm>
              <a:off x="15163800" y="3478768"/>
              <a:ext cx="2178083" cy="369332"/>
              <a:chOff x="14316337" y="3297721"/>
              <a:chExt cx="2178083" cy="369332"/>
            </a:xfrm>
          </p:grpSpPr>
          <p:sp>
            <p:nvSpPr>
              <p:cNvPr id="51" name="모서리가 둥근 직사각형 50">
                <a:extLst>
                  <a:ext uri="{FF2B5EF4-FFF2-40B4-BE49-F238E27FC236}">
                    <a16:creationId xmlns:a16="http://schemas.microsoft.com/office/drawing/2014/main" id="{923C6A66-A6CF-522F-A305-165B77754E24}"/>
                  </a:ext>
                </a:extLst>
              </p:cNvPr>
              <p:cNvSpPr/>
              <p:nvPr/>
            </p:nvSpPr>
            <p:spPr>
              <a:xfrm>
                <a:off x="14316337" y="3354820"/>
                <a:ext cx="264680" cy="264680"/>
              </a:xfrm>
              <a:prstGeom prst="roundRect">
                <a:avLst/>
              </a:prstGeom>
              <a:solidFill>
                <a:srgbClr val="0095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A04159F-C565-29FF-DB42-040E811723B9}"/>
                  </a:ext>
                </a:extLst>
              </p:cNvPr>
              <p:cNvSpPr txBox="1"/>
              <p:nvPr/>
            </p:nvSpPr>
            <p:spPr>
              <a:xfrm>
                <a:off x="14665315" y="3297721"/>
                <a:ext cx="18291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:</a:t>
                </a:r>
                <a:r>
                  <a:rPr kumimoji="1" lang="ko-KR" altLang="en-US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시점 </a:t>
                </a:r>
                <a:r>
                  <a:rPr kumimoji="1" lang="en-US" altLang="ko-KR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t-1</a:t>
                </a:r>
                <a:r>
                  <a:rPr kumimoji="1" lang="ko-KR" altLang="en-US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의 방향</a:t>
                </a: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65F22740-537F-66A2-EDA3-0B0414406510}"/>
                </a:ext>
              </a:extLst>
            </p:cNvPr>
            <p:cNvGrpSpPr/>
            <p:nvPr/>
          </p:nvGrpSpPr>
          <p:grpSpPr>
            <a:xfrm>
              <a:off x="15163800" y="4230955"/>
              <a:ext cx="2178083" cy="369332"/>
              <a:chOff x="14316337" y="3297721"/>
              <a:chExt cx="2178083" cy="369332"/>
            </a:xfrm>
          </p:grpSpPr>
          <p:sp>
            <p:nvSpPr>
              <p:cNvPr id="54" name="모서리가 둥근 직사각형 53">
                <a:extLst>
                  <a:ext uri="{FF2B5EF4-FFF2-40B4-BE49-F238E27FC236}">
                    <a16:creationId xmlns:a16="http://schemas.microsoft.com/office/drawing/2014/main" id="{958392CD-007B-FB7C-25D3-B9D8E9C14869}"/>
                  </a:ext>
                </a:extLst>
              </p:cNvPr>
              <p:cNvSpPr/>
              <p:nvPr/>
            </p:nvSpPr>
            <p:spPr>
              <a:xfrm>
                <a:off x="14316337" y="3354820"/>
                <a:ext cx="264680" cy="264680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7042B97-AE02-8B49-B2EE-51D0F154011F}"/>
                  </a:ext>
                </a:extLst>
              </p:cNvPr>
              <p:cNvSpPr txBox="1"/>
              <p:nvPr/>
            </p:nvSpPr>
            <p:spPr>
              <a:xfrm>
                <a:off x="14665315" y="3297721"/>
                <a:ext cx="18291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:</a:t>
                </a:r>
                <a:r>
                  <a:rPr kumimoji="1" lang="ko-KR" altLang="en-US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시점 </a:t>
                </a:r>
                <a:r>
                  <a:rPr kumimoji="1" lang="en-US" altLang="ko-KR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t+1</a:t>
                </a:r>
                <a:r>
                  <a:rPr kumimoji="1" lang="ko-KR" altLang="en-US" dirty="0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의 방향</a:t>
                </a:r>
              </a:p>
            </p:txBody>
          </p:sp>
        </p:grpSp>
      </p:grpSp>
      <p:pic>
        <p:nvPicPr>
          <p:cNvPr id="59" name="그림 58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C4C989D-5A72-1C27-03AF-D52954C32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91" y="4783471"/>
            <a:ext cx="5927249" cy="4921413"/>
          </a:xfrm>
          <a:prstGeom prst="rect">
            <a:avLst/>
          </a:prstGeom>
        </p:spPr>
      </p:pic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963D99A8-1E28-1197-F61A-64D355E12349}"/>
              </a:ext>
            </a:extLst>
          </p:cNvPr>
          <p:cNvSpPr/>
          <p:nvPr/>
        </p:nvSpPr>
        <p:spPr>
          <a:xfrm>
            <a:off x="2590800" y="7911912"/>
            <a:ext cx="609600" cy="396025"/>
          </a:xfrm>
          <a:prstGeom prst="roundRect">
            <a:avLst/>
          </a:prstGeom>
          <a:noFill/>
          <a:ln w="28575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848A7962-D8F6-6459-5518-D54F9DD53392}"/>
              </a:ext>
            </a:extLst>
          </p:cNvPr>
          <p:cNvCxnSpPr/>
          <p:nvPr/>
        </p:nvCxnSpPr>
        <p:spPr>
          <a:xfrm>
            <a:off x="3200400" y="8039100"/>
            <a:ext cx="3356086" cy="0"/>
          </a:xfrm>
          <a:prstGeom prst="straightConnector1">
            <a:avLst/>
          </a:prstGeom>
          <a:ln w="28575">
            <a:solidFill>
              <a:srgbClr val="EC1D2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F0C92BC-7F08-E667-51F3-0958CD933C95}"/>
                  </a:ext>
                </a:extLst>
              </p:cNvPr>
              <p:cNvSpPr txBox="1"/>
              <p:nvPr/>
            </p:nvSpPr>
            <p:spPr>
              <a:xfrm>
                <a:off x="6821512" y="7549389"/>
                <a:ext cx="1001868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en-US" altLang="ko-KR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: Momentum</a:t>
                </a:r>
                <a:r>
                  <a:rPr kumimoji="1" lang="ko-KR" altLang="en-US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 계수</a:t>
                </a:r>
                <a:r>
                  <a:rPr kumimoji="1" lang="en-US" altLang="ko-KR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(</a:t>
                </a:r>
                <a:r>
                  <a:rPr kumimoji="1" lang="ko-KR" altLang="en-US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본 논문에서는 </a:t>
                </a:r>
                <a:r>
                  <a:rPr kumimoji="1" lang="en-US" altLang="ko-KR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1</a:t>
                </a:r>
                <a:r>
                  <a:rPr kumimoji="1" lang="ko-KR" altLang="en-US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로 설정</a:t>
                </a:r>
                <a:r>
                  <a:rPr kumimoji="1" lang="en-US" altLang="ko-KR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ko-KR" altLang="en-US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가 </a:t>
                </a:r>
                <a:r>
                  <a:rPr kumimoji="1" lang="en-US" altLang="ko-KR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0</a:t>
                </a:r>
                <a:r>
                  <a:rPr kumimoji="1" lang="ko-KR" altLang="en-US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이라면 </a:t>
                </a:r>
                <a:r>
                  <a:rPr kumimoji="1" lang="en-US" altLang="ko-KR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I-FGSM</a:t>
                </a:r>
                <a:r>
                  <a:rPr kumimoji="1" lang="ko-KR" altLang="en-US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과 동일</a:t>
                </a:r>
                <a:endParaRPr kumimoji="1" lang="en-US" altLang="ko-KR" sz="20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Momentum</a:t>
                </a:r>
                <a:r>
                  <a:rPr kumimoji="1" lang="ko-KR" altLang="en-US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을 사용하여 </a:t>
                </a:r>
                <a:r>
                  <a:rPr kumimoji="1" lang="ko-KR" altLang="en-US" sz="2000" dirty="0" err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극대값</a:t>
                </a:r>
                <a:r>
                  <a:rPr kumimoji="1" lang="en-US" altLang="ko-KR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(poor local maxima)</a:t>
                </a:r>
                <a:r>
                  <a:rPr kumimoji="1" lang="ko-KR" altLang="en-US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이 아닌 최대값을 찾을 수 있음</a:t>
                </a:r>
                <a:r>
                  <a:rPr kumimoji="1" lang="en-US" altLang="ko-KR" sz="20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.</a:t>
                </a:r>
                <a:endParaRPr kumimoji="1" lang="ko-KR" altLang="en-US" sz="20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F0C92BC-7F08-E667-51F3-0958CD933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512" y="7549389"/>
                <a:ext cx="10018688" cy="1015663"/>
              </a:xfrm>
              <a:prstGeom prst="rect">
                <a:avLst/>
              </a:prstGeom>
              <a:blipFill>
                <a:blip r:embed="rId7"/>
                <a:stretch>
                  <a:fillRect l="-506" t="-3704" b="-98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9723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E8D74-5C70-2469-D3BC-AD8A046E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B153895-6A9E-15A3-87C1-E8CC7566708D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89D37E2-2749-C252-1A33-93F25187C9EB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논문 리뷰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–</a:t>
            </a: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MI-FGSM for Ensemble of Models</a:t>
            </a:r>
            <a:endParaRPr lang="en-US" sz="2800" b="1" dirty="0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02385E4-037C-8A4B-0BCA-EEF4810F1D80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9A344DE7-DBDF-DBF8-2D89-AB27AC5E77FD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E1237851-2148-15BE-0A52-53EEADD437B7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1D460CE-DDE2-EA40-5729-098990B12ED9}"/>
              </a:ext>
            </a:extLst>
          </p:cNvPr>
          <p:cNvSpPr txBox="1"/>
          <p:nvPr/>
        </p:nvSpPr>
        <p:spPr>
          <a:xfrm>
            <a:off x="544276" y="1025386"/>
            <a:ext cx="137051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Ensemble of models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K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개 모델의 </a:t>
            </a:r>
            <a:r>
              <a:rPr kumimoji="1" lang="en-US" altLang="ko-KR" sz="2400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logits </a:t>
            </a:r>
            <a:r>
              <a:rPr kumimoji="1" lang="ko-KR" altLang="en-US" sz="2400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값의 가중치 합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을 계산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914400" lvl="1" indent="-457200">
              <a:buFont typeface="시스템 서체 일반체"/>
              <a:buChar char="-"/>
            </a:pPr>
            <a:r>
              <a:rPr kumimoji="1" lang="en-US" altLang="ko-KR" sz="2400" b="1" dirty="0" err="1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softmax</a:t>
            </a:r>
            <a:r>
              <a:rPr kumimoji="1" lang="en-US" altLang="ko-KR" sz="2400" b="1" dirty="0">
                <a:solidFill>
                  <a:srgbClr val="EC1D26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cross-entropy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loss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를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이용해 전체 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손실값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계산</a:t>
            </a:r>
            <a:endParaRPr kumimoji="1" lang="en-US" altLang="ko-KR" sz="2400" dirty="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46F22C0A-329D-9FD6-A207-FFFDA9CB9E1B}"/>
              </a:ext>
            </a:extLst>
          </p:cNvPr>
          <p:cNvSpPr/>
          <p:nvPr/>
        </p:nvSpPr>
        <p:spPr>
          <a:xfrm>
            <a:off x="222417" y="1043143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86895A2-DB9C-E007-E1D3-AC3A7645E20D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36FB8965-FBF1-9299-CD9C-824685EBE0A6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EECB8337-4B8F-D5EB-83E6-A6C3697BA6EA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3A3B576-EFE2-F44A-523E-F0CEA91F7197}"/>
              </a:ext>
            </a:extLst>
          </p:cNvPr>
          <p:cNvGrpSpPr/>
          <p:nvPr/>
        </p:nvGrpSpPr>
        <p:grpSpPr>
          <a:xfrm>
            <a:off x="391607" y="3016322"/>
            <a:ext cx="8218993" cy="6333459"/>
            <a:chOff x="9846590" y="507221"/>
            <a:chExt cx="8218993" cy="6333459"/>
          </a:xfrm>
        </p:grpSpPr>
        <p:pic>
          <p:nvPicPr>
            <p:cNvPr id="5" name="그림 4" descr="텍스트, 스크린샷, 폰트, 번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29A6490D-66B0-59D9-34AE-C07BD7744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46590" y="507221"/>
              <a:ext cx="8218993" cy="6333459"/>
            </a:xfrm>
            <a:prstGeom prst="rect">
              <a:avLst/>
            </a:prstGeom>
          </p:spPr>
        </p:pic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704FFA24-AC2A-A16F-00F5-400F515FC3C8}"/>
                </a:ext>
              </a:extLst>
            </p:cNvPr>
            <p:cNvSpPr/>
            <p:nvPr/>
          </p:nvSpPr>
          <p:spPr>
            <a:xfrm>
              <a:off x="9962205" y="3466216"/>
              <a:ext cx="7857576" cy="1829684"/>
            </a:xfrm>
            <a:prstGeom prst="roundRect">
              <a:avLst/>
            </a:prstGeom>
            <a:noFill/>
            <a:ln w="28575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35C519E-0D42-4AD4-D5DF-73231FB6AA8E}"/>
              </a:ext>
            </a:extLst>
          </p:cNvPr>
          <p:cNvGrpSpPr/>
          <p:nvPr/>
        </p:nvGrpSpPr>
        <p:grpSpPr>
          <a:xfrm>
            <a:off x="9677402" y="2070996"/>
            <a:ext cx="9056512" cy="7109639"/>
            <a:chOff x="1204450" y="2476500"/>
            <a:chExt cx="9056512" cy="71096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276B1E7-8945-7EDD-B018-DE046D450D4D}"/>
                    </a:ext>
                  </a:extLst>
                </p:cNvPr>
                <p:cNvSpPr txBox="1"/>
                <p:nvPr/>
              </p:nvSpPr>
              <p:spPr>
                <a:xfrm>
                  <a:off x="1204450" y="2476500"/>
                  <a:ext cx="9056512" cy="71096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en-US" altLang="ko-KR" sz="2400" b="1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     </a:t>
                  </a:r>
                </a:p>
                <a:p>
                  <a:pPr lvl="1"/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(line 4) </a:t>
                  </a:r>
                </a:p>
                <a:p>
                  <a:pPr marL="1257300" lvl="2" indent="-342900">
                    <a:buFont typeface="Arial" panose="020B0604020202020204" pitchFamily="34" charset="0"/>
                    <a:buChar char="•"/>
                  </a:pPr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K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개의 모델에 데이터 입력</a:t>
                  </a:r>
                  <a:endPara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lvl="1"/>
                  <a:endPara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lvl="1"/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(line 5) </a:t>
                  </a:r>
                </a:p>
                <a:p>
                  <a:pPr lvl="1"/>
                  <a:endPara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lvl="1"/>
                  <a:endPara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lvl="1"/>
                  <a:endPara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marL="1371600" lvl="2" indent="-45720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Source Han Sans KR Medium" panose="020B0600000000000000" pitchFamily="34" charset="-128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Source Han Sans KR Medium" panose="020B0600000000000000" pitchFamily="34" charset="-128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Source Han Sans KR Medium" panose="020B0600000000000000" pitchFamily="34" charset="-128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Source Han Sans KR Medium" panose="020B0600000000000000" pitchFamily="34" charset="-128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</m:oMath>
                  </a14:m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: 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각 모델 </a:t>
                  </a:r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k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의 </a:t>
                  </a:r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logit 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출력</a:t>
                  </a:r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,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: 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각 모델 </a:t>
                  </a:r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k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의 가중치</a:t>
                  </a:r>
                  <a:endPara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lvl="2"/>
                  <a:endPara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lvl="1"/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(line 6)</a:t>
                  </a:r>
                </a:p>
                <a:p>
                  <a:pPr marL="1371600" lvl="2" indent="-457200">
                    <a:buFont typeface="Arial" panose="020B0604020202020204" pitchFamily="34" charset="0"/>
                    <a:buChar char="•"/>
                  </a:pPr>
                  <a:r>
                    <a:rPr kumimoji="1" lang="en-US" altLang="ko-KR" sz="2400" dirty="0" err="1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softmax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함수를 적용해 </a:t>
                  </a:r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logits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값을 확률로 변환</a:t>
                  </a:r>
                  <a:endPara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marL="1371600" lvl="2" indent="-457200">
                    <a:buFont typeface="Arial" panose="020B0604020202020204" pitchFamily="34" charset="0"/>
                    <a:buChar char="•"/>
                  </a:pPr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cross-entropy</a:t>
                  </a:r>
                  <a:r>
                    <a:rPr kumimoji="1" lang="ko-KR" altLang="en-US" sz="2400" dirty="0" err="1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를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적용해 손실 값을 구함</a:t>
                  </a:r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.</a:t>
                  </a:r>
                </a:p>
                <a:p>
                  <a:pPr marL="1371600" lvl="2" indent="-457200">
                    <a:buFont typeface="Arial" panose="020B0604020202020204" pitchFamily="34" charset="0"/>
                    <a:buChar char="•"/>
                  </a:pPr>
                  <a:endPara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lvl="1"/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(line 7)</a:t>
                  </a:r>
                </a:p>
                <a:p>
                  <a:pPr marL="1257300" lvl="2" indent="-342900">
                    <a:buFont typeface="Arial" panose="020B0604020202020204" pitchFamily="34" charset="0"/>
                    <a:buChar char="•"/>
                  </a:pP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손실 함수에서 데이터에 대한 </a:t>
                  </a:r>
                  <a:r>
                    <a:rPr kumimoji="1" lang="ko-KR" altLang="en-US" sz="2400" dirty="0" err="1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그래디언트를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구함</a:t>
                  </a:r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.</a:t>
                  </a:r>
                </a:p>
                <a:p>
                  <a:pPr marL="1257300" lvl="2" indent="-342900">
                    <a:buFont typeface="Arial" panose="020B0604020202020204" pitchFamily="34" charset="0"/>
                    <a:buChar char="•"/>
                  </a:pPr>
                  <a:endPara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lvl="1"/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(line 8~) </a:t>
                  </a:r>
                </a:p>
                <a:p>
                  <a:pPr marL="1257300" lvl="2" indent="-342900">
                    <a:buFont typeface="Arial" panose="020B0604020202020204" pitchFamily="34" charset="0"/>
                    <a:buChar char="•"/>
                  </a:pP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이후 기존 </a:t>
                  </a:r>
                  <a:r>
                    <a:rPr kumimoji="1" lang="en-US" altLang="ko-KR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MI-FGSM</a:t>
                  </a:r>
                  <a:r>
                    <a:rPr kumimoji="1" lang="ko-KR" altLang="en-US" sz="2400" dirty="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과 동일</a:t>
                  </a:r>
                  <a:endParaRPr kumimoji="1" lang="en-US" altLang="ko-KR" sz="2400" dirty="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276B1E7-8945-7EDD-B018-DE046D450D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4450" y="2476500"/>
                  <a:ext cx="9056512" cy="7109639"/>
                </a:xfrm>
                <a:prstGeom prst="rect">
                  <a:avLst/>
                </a:prstGeom>
                <a:blipFill>
                  <a:blip r:embed="rId6"/>
                  <a:stretch>
                    <a:fillRect b="-10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그림 10" descr="폰트, 친필, 서예, 화이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E0A2482-5481-FC67-9C10-5C40EBBBF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5751" y="4547501"/>
              <a:ext cx="4141580" cy="774684"/>
            </a:xfrm>
            <a:prstGeom prst="rect">
              <a:avLst/>
            </a:prstGeom>
          </p:spPr>
        </p:pic>
      </p:grpSp>
      <p:sp>
        <p:nvSpPr>
          <p:cNvPr id="33" name="오른쪽 화살표[R] 32">
            <a:extLst>
              <a:ext uri="{FF2B5EF4-FFF2-40B4-BE49-F238E27FC236}">
                <a16:creationId xmlns:a16="http://schemas.microsoft.com/office/drawing/2014/main" id="{48AD0F38-48AF-A989-D1BE-E457007C3CE0}"/>
              </a:ext>
            </a:extLst>
          </p:cNvPr>
          <p:cNvSpPr/>
          <p:nvPr/>
        </p:nvSpPr>
        <p:spPr>
          <a:xfrm>
            <a:off x="8608733" y="6515100"/>
            <a:ext cx="1068667" cy="533400"/>
          </a:xfrm>
          <a:prstGeom prst="rightArrow">
            <a:avLst>
              <a:gd name="adj1" fmla="val 30952"/>
              <a:gd name="adj2" fmla="val 43650"/>
            </a:avLst>
          </a:prstGeom>
          <a:solidFill>
            <a:srgbClr val="EC1D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842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986E1-F4EA-3BD9-3257-87429239B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양쪽 중괄호 32">
            <a:extLst>
              <a:ext uri="{FF2B5EF4-FFF2-40B4-BE49-F238E27FC236}">
                <a16:creationId xmlns:a16="http://schemas.microsoft.com/office/drawing/2014/main" id="{C092F187-64CD-FC3F-0E4B-E1D0F26AC27D}"/>
              </a:ext>
            </a:extLst>
          </p:cNvPr>
          <p:cNvSpPr/>
          <p:nvPr/>
        </p:nvSpPr>
        <p:spPr>
          <a:xfrm>
            <a:off x="15181547" y="952500"/>
            <a:ext cx="1201454" cy="440133"/>
          </a:xfrm>
          <a:prstGeom prst="bracePair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2" name="양쪽 중괄호 31">
            <a:extLst>
              <a:ext uri="{FF2B5EF4-FFF2-40B4-BE49-F238E27FC236}">
                <a16:creationId xmlns:a16="http://schemas.microsoft.com/office/drawing/2014/main" id="{9BF4FDCE-2987-C3ED-EF43-7EE992580A64}"/>
              </a:ext>
            </a:extLst>
          </p:cNvPr>
          <p:cNvSpPr/>
          <p:nvPr/>
        </p:nvSpPr>
        <p:spPr>
          <a:xfrm>
            <a:off x="580392" y="1641010"/>
            <a:ext cx="3215806" cy="3502490"/>
          </a:xfrm>
          <a:prstGeom prst="bracePair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7959136-883B-351C-F76F-07D0D9581F13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60182CA-E108-A22A-B275-98F54D069772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논문 리뷰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–</a:t>
            </a: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실험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1(Attacking a Single Model)</a:t>
            </a:r>
            <a:endParaRPr lang="en-US" sz="2800" b="1" dirty="0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9ED4475-D9E8-EB5B-96FC-10FCE7B53E0C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DC608052-520D-92A1-7096-12AA9D8DE747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C54A4FC7-22E5-E54E-816C-6AA42F6C225D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077EAE1-E494-8D01-5E70-926D81B9C104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B804595C-2461-D864-5694-4819D3B4ADF2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FE7809D6-F08C-13A8-E112-77AA4E017F11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4C62BDA-C52C-6EC0-5FB9-147E0FDDDF01}"/>
              </a:ext>
            </a:extLst>
          </p:cNvPr>
          <p:cNvGrpSpPr/>
          <p:nvPr/>
        </p:nvGrpSpPr>
        <p:grpSpPr>
          <a:xfrm>
            <a:off x="861704" y="7383840"/>
            <a:ext cx="14049639" cy="1569660"/>
            <a:chOff x="861704" y="6743700"/>
            <a:chExt cx="14049639" cy="15696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13FCFA-DA1D-9F6C-6E63-0B9AFA37F8C7}"/>
                </a:ext>
              </a:extLst>
            </p:cNvPr>
            <p:cNvSpPr txBox="1"/>
            <p:nvPr/>
          </p:nvSpPr>
          <p:spPr>
            <a:xfrm>
              <a:off x="1206219" y="6743700"/>
              <a:ext cx="1370512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sz="2400" b="1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[</a:t>
              </a:r>
              <a:r>
                <a:rPr kumimoji="1" lang="ko-KR" altLang="en-US" sz="2400" b="1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실험 결과</a:t>
              </a:r>
              <a:r>
                <a:rPr kumimoji="1" lang="en-US" altLang="ko-KR" sz="2400" b="1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]</a:t>
              </a:r>
            </a:p>
            <a:p>
              <a:pPr marL="914400" lvl="1" indent="-457200">
                <a:buFont typeface="시스템 서체 일반체"/>
                <a:buChar char="-"/>
              </a:pP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(white box) 100% </a:t>
              </a:r>
              <a:r>
                <a:rPr kumimoji="1" lang="ko-KR" altLang="en-US" sz="2400" dirty="0" err="1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에</a:t>
              </a:r>
              <a:r>
                <a:rPr kumimoji="1" lang="ko-KR" altLang="en-US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 가까운 공격 성공률을 보임</a:t>
              </a: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.</a:t>
              </a:r>
            </a:p>
            <a:p>
              <a:pPr marL="914400" lvl="1" indent="-457200">
                <a:buFont typeface="시스템 서체 일반체"/>
                <a:buChar char="-"/>
              </a:pP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(single model black box) </a:t>
              </a:r>
              <a:r>
                <a:rPr kumimoji="1" lang="ko-KR" altLang="en-US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약 </a:t>
              </a: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50%</a:t>
              </a:r>
              <a:r>
                <a:rPr kumimoji="1" lang="ko-KR" altLang="en-US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의 준수한 공격 성공률을 보임</a:t>
              </a: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.</a:t>
              </a:r>
            </a:p>
            <a:p>
              <a:pPr marL="914400" lvl="1" indent="-457200">
                <a:buFont typeface="시스템 서체 일반체"/>
                <a:buChar char="-"/>
              </a:pP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(ensemble model black box) </a:t>
              </a:r>
              <a:r>
                <a:rPr kumimoji="1" lang="ko-KR" altLang="en-US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약 </a:t>
              </a: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20%</a:t>
              </a:r>
              <a:r>
                <a:rPr kumimoji="1" lang="ko-KR" altLang="en-US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의 낮은 공격 성공률을 보임</a:t>
              </a: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.</a:t>
              </a: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F39C0017-3E03-9489-69B2-81001B6A78B4}"/>
                </a:ext>
              </a:extLst>
            </p:cNvPr>
            <p:cNvSpPr/>
            <p:nvPr/>
          </p:nvSpPr>
          <p:spPr>
            <a:xfrm>
              <a:off x="861704" y="6743700"/>
              <a:ext cx="388796" cy="364761"/>
            </a:xfrm>
            <a:custGeom>
              <a:avLst/>
              <a:gdLst/>
              <a:ahLst/>
              <a:cxnLst/>
              <a:rect l="l" t="t" r="r" b="b"/>
              <a:pathLst>
                <a:path w="648352" h="608272">
                  <a:moveTo>
                    <a:pt x="0" y="0"/>
                  </a:moveTo>
                  <a:lnTo>
                    <a:pt x="648351" y="0"/>
                  </a:lnTo>
                  <a:lnTo>
                    <a:pt x="648351" y="608272"/>
                  </a:lnTo>
                  <a:lnTo>
                    <a:pt x="0" y="60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D9371D6-D891-36D5-AFE1-177FDCF9DDAE}"/>
              </a:ext>
            </a:extLst>
          </p:cNvPr>
          <p:cNvSpPr txBox="1"/>
          <p:nvPr/>
        </p:nvSpPr>
        <p:spPr>
          <a:xfrm>
            <a:off x="1751858" y="5503478"/>
            <a:ext cx="6934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rgbClr val="EC1D26"/>
                </a:solidFill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white-box </a:t>
            </a:r>
            <a:r>
              <a:rPr kumimoji="1" lang="en-US" altLang="ko-KR" sz="24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(</a:t>
            </a:r>
            <a:r>
              <a:rPr kumimoji="1" lang="ko-KR" altLang="en-US" sz="24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나머지는 전부 </a:t>
            </a:r>
            <a:r>
              <a:rPr kumimoji="1" lang="en-US" altLang="ko-KR" sz="2400" dirty="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black-box)</a:t>
            </a:r>
            <a:endParaRPr kumimoji="1" lang="ko-KR" altLang="en-US" sz="2400" dirty="0"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pic>
        <p:nvPicPr>
          <p:cNvPr id="7" name="그림 6" descr="텍스트, 번호, 폰트, 영수증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BC317CE-727C-F881-BAF9-CADD56471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4" y="895099"/>
            <a:ext cx="15277546" cy="4591045"/>
          </a:xfrm>
          <a:prstGeom prst="rect">
            <a:avLst/>
          </a:prstGeom>
        </p:spPr>
      </p:pic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2FF5FDC-22DD-F3E0-7E26-7F0D2C5449B9}"/>
              </a:ext>
            </a:extLst>
          </p:cNvPr>
          <p:cNvSpPr/>
          <p:nvPr/>
        </p:nvSpPr>
        <p:spPr>
          <a:xfrm>
            <a:off x="4310726" y="1485899"/>
            <a:ext cx="1600200" cy="914401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A56A255-076E-CE42-5200-1D452F022005}"/>
              </a:ext>
            </a:extLst>
          </p:cNvPr>
          <p:cNvSpPr/>
          <p:nvPr/>
        </p:nvSpPr>
        <p:spPr>
          <a:xfrm>
            <a:off x="5987126" y="2476499"/>
            <a:ext cx="1600200" cy="914401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DBC9D03-B97E-254B-687C-6ED484F7E9F0}"/>
              </a:ext>
            </a:extLst>
          </p:cNvPr>
          <p:cNvSpPr/>
          <p:nvPr/>
        </p:nvSpPr>
        <p:spPr>
          <a:xfrm>
            <a:off x="7663526" y="3468617"/>
            <a:ext cx="1600200" cy="914401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338051C-D539-FE84-456B-421E35FD7C4C}"/>
              </a:ext>
            </a:extLst>
          </p:cNvPr>
          <p:cNvSpPr/>
          <p:nvPr/>
        </p:nvSpPr>
        <p:spPr>
          <a:xfrm>
            <a:off x="9339926" y="4457699"/>
            <a:ext cx="1600200" cy="914401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AE315152-DECA-A4E3-A0DE-CA492B757490}"/>
              </a:ext>
            </a:extLst>
          </p:cNvPr>
          <p:cNvSpPr/>
          <p:nvPr/>
        </p:nvSpPr>
        <p:spPr>
          <a:xfrm>
            <a:off x="10940126" y="890366"/>
            <a:ext cx="5290473" cy="595534"/>
          </a:xfrm>
          <a:prstGeom prst="roundRect">
            <a:avLst/>
          </a:prstGeom>
          <a:noFill/>
          <a:ln w="38100">
            <a:solidFill>
              <a:srgbClr val="009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D0644B27-5B6C-326C-9EDD-BD2DCAB4890D}"/>
              </a:ext>
            </a:extLst>
          </p:cNvPr>
          <p:cNvSpPr/>
          <p:nvPr/>
        </p:nvSpPr>
        <p:spPr>
          <a:xfrm>
            <a:off x="1177684" y="5507058"/>
            <a:ext cx="482788" cy="461665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69F128C-2DB6-C9C4-7F0A-65A8E92BFB2B}"/>
              </a:ext>
            </a:extLst>
          </p:cNvPr>
          <p:cNvGrpSpPr/>
          <p:nvPr/>
        </p:nvGrpSpPr>
        <p:grpSpPr>
          <a:xfrm>
            <a:off x="1177684" y="6067636"/>
            <a:ext cx="7831032" cy="466130"/>
            <a:chOff x="8856768" y="5520035"/>
            <a:chExt cx="7831032" cy="466130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9D7876FC-4765-9DE1-185F-F717A845616F}"/>
                </a:ext>
              </a:extLst>
            </p:cNvPr>
            <p:cNvSpPr/>
            <p:nvPr/>
          </p:nvSpPr>
          <p:spPr>
            <a:xfrm>
              <a:off x="8856768" y="5520035"/>
              <a:ext cx="482788" cy="461665"/>
            </a:xfrm>
            <a:prstGeom prst="roundRect">
              <a:avLst/>
            </a:prstGeom>
            <a:noFill/>
            <a:ln w="38100">
              <a:solidFill>
                <a:srgbClr val="009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0C3818A-F413-0528-C1FE-0ED8283C2D36}"/>
                </a:ext>
              </a:extLst>
            </p:cNvPr>
            <p:cNvSpPr txBox="1"/>
            <p:nvPr/>
          </p:nvSpPr>
          <p:spPr>
            <a:xfrm>
              <a:off x="9371858" y="5524500"/>
              <a:ext cx="73159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ensemble adversarial training </a:t>
              </a:r>
              <a:r>
                <a:rPr kumimoji="1" lang="ko-KR" altLang="en-US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모델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D161085-614F-4DBB-FAF4-A6C525F0590C}"/>
              </a:ext>
            </a:extLst>
          </p:cNvPr>
          <p:cNvSpPr txBox="1"/>
          <p:nvPr/>
        </p:nvSpPr>
        <p:spPr>
          <a:xfrm>
            <a:off x="76200" y="1714499"/>
            <a:ext cx="461665" cy="32004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ko-KR" altLang="en-US" dirty="0">
                <a:ea typeface="Source Han Sans KR Bold" panose="020B0800000000000000" pitchFamily="34" charset="-128"/>
              </a:rPr>
              <a:t>임의의 제작 모델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E29F58-5C9A-E406-8333-0E17B303A261}"/>
              </a:ext>
            </a:extLst>
          </p:cNvPr>
          <p:cNvSpPr txBox="1"/>
          <p:nvPr/>
        </p:nvSpPr>
        <p:spPr>
          <a:xfrm>
            <a:off x="15917334" y="1003467"/>
            <a:ext cx="214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ea typeface="Source Han Sans KR Bold" panose="020B0800000000000000" pitchFamily="34" charset="-128"/>
              </a:rPr>
              <a:t>공격 대상</a:t>
            </a:r>
          </a:p>
        </p:txBody>
      </p:sp>
    </p:spTree>
    <p:extLst>
      <p:ext uri="{BB962C8B-B14F-4D97-AF65-F5344CB8AC3E}">
        <p14:creationId xmlns:p14="http://schemas.microsoft.com/office/powerpoint/2010/main" val="39929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FAABE-9B48-B87C-95CC-049C53E3B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양쪽 중괄호 21">
            <a:extLst>
              <a:ext uri="{FF2B5EF4-FFF2-40B4-BE49-F238E27FC236}">
                <a16:creationId xmlns:a16="http://schemas.microsoft.com/office/drawing/2014/main" id="{352E2011-A975-C21F-109C-7D859FCF3B4D}"/>
              </a:ext>
            </a:extLst>
          </p:cNvPr>
          <p:cNvSpPr/>
          <p:nvPr/>
        </p:nvSpPr>
        <p:spPr>
          <a:xfrm>
            <a:off x="441794" y="2095500"/>
            <a:ext cx="3215806" cy="3090276"/>
          </a:xfrm>
          <a:prstGeom prst="bracePair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16" name="그림 15" descr="텍스트, 번호, 폰트, 낱말맞추기 퍼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006A72E-51C8-E949-08D3-6DD34785F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21" y="900462"/>
            <a:ext cx="14716363" cy="4534444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1C5F66A2-26CB-E62D-7EE8-FFD36004374F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8F9599B-7E80-6D6C-350C-09F78D3C5491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논문 리뷰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–</a:t>
            </a: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실험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2(Attacking an Ensemble of Models)</a:t>
            </a:r>
            <a:endParaRPr lang="en-US" sz="2800" b="1" dirty="0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ACA2221-8DC0-75EF-AACE-24E26520DBB4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97F8AF55-6DC9-13B6-D95B-8D23D91EEB2C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BD1ADCA9-0D05-E130-F1E1-EC5771126FE3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1690F44-6E9E-A049-F37F-7033D15A4525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B4983FA6-BA4A-2A3A-61E4-DE72A4AC3F48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70A79295-65E9-585E-3571-370A7407FF77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</p:grp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485E8A4-2774-C1D9-A030-D4E9D56A8D99}"/>
              </a:ext>
            </a:extLst>
          </p:cNvPr>
          <p:cNvSpPr/>
          <p:nvPr/>
        </p:nvSpPr>
        <p:spPr>
          <a:xfrm>
            <a:off x="12268200" y="1333500"/>
            <a:ext cx="1295400" cy="304800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4E0706-7E98-1191-05E1-0C2A6B2A2A5D}"/>
              </a:ext>
            </a:extLst>
          </p:cNvPr>
          <p:cNvSpPr txBox="1"/>
          <p:nvPr/>
        </p:nvSpPr>
        <p:spPr>
          <a:xfrm>
            <a:off x="61712" y="2095500"/>
            <a:ext cx="461665" cy="32004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ko-KR" altLang="en-US" dirty="0">
                <a:ea typeface="Source Han Sans KR Bold" panose="020B0800000000000000" pitchFamily="34" charset="-128"/>
              </a:rPr>
              <a:t>공격 대상</a:t>
            </a:r>
            <a:r>
              <a:rPr kumimoji="1" lang="en-US" altLang="ko-KR" dirty="0">
                <a:ea typeface="Source Han Sans KR Bold" panose="020B0800000000000000" pitchFamily="34" charset="-128"/>
              </a:rPr>
              <a:t>(</a:t>
            </a:r>
            <a:r>
              <a:rPr kumimoji="1" lang="ko-KR" altLang="en-US" b="1" dirty="0">
                <a:ea typeface="Source Han Sans KR Bold" panose="020B0800000000000000" pitchFamily="34" charset="-128"/>
              </a:rPr>
              <a:t>단일 모델</a:t>
            </a:r>
            <a:r>
              <a:rPr kumimoji="1" lang="en-US" altLang="ko-KR" dirty="0">
                <a:ea typeface="Source Han Sans KR Bold" panose="020B0800000000000000" pitchFamily="34" charset="-128"/>
              </a:rPr>
              <a:t>)</a:t>
            </a:r>
            <a:endParaRPr kumimoji="1" lang="ko-KR" altLang="en-US" dirty="0">
              <a:ea typeface="Source Han Sans KR Bold" panose="020B0800000000000000" pitchFamily="34" charset="-128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4A6A1CA9-BFBA-A726-C244-1B51584DA311}"/>
              </a:ext>
            </a:extLst>
          </p:cNvPr>
          <p:cNvSpPr/>
          <p:nvPr/>
        </p:nvSpPr>
        <p:spPr>
          <a:xfrm>
            <a:off x="13985742" y="1333500"/>
            <a:ext cx="1295400" cy="304800"/>
          </a:xfrm>
          <a:prstGeom prst="roundRect">
            <a:avLst/>
          </a:prstGeom>
          <a:noFill/>
          <a:ln w="38100">
            <a:solidFill>
              <a:srgbClr val="009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8FDDFA-CB91-E916-AFC6-2F2A6CE2B370}"/>
              </a:ext>
            </a:extLst>
          </p:cNvPr>
          <p:cNvSpPr txBox="1"/>
          <p:nvPr/>
        </p:nvSpPr>
        <p:spPr>
          <a:xfrm>
            <a:off x="1751858" y="5524500"/>
            <a:ext cx="6383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dirty="0">
                <a:solidFill>
                  <a:srgbClr val="EC1D26"/>
                </a:solidFill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공격 대상을 포함한 모든 모델 이용</a:t>
            </a:r>
            <a:r>
              <a:rPr kumimoji="1" lang="en-US" altLang="ko-KR" sz="2400" dirty="0">
                <a:solidFill>
                  <a:srgbClr val="EC1D26"/>
                </a:solidFill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(white-box)</a:t>
            </a:r>
            <a:endParaRPr kumimoji="1" lang="ko-KR" altLang="en-US" sz="2400" dirty="0">
              <a:solidFill>
                <a:srgbClr val="EC1D26"/>
              </a:solidFill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A27BEB0E-FD26-A26E-83C0-FD0E387BC9A9}"/>
              </a:ext>
            </a:extLst>
          </p:cNvPr>
          <p:cNvSpPr/>
          <p:nvPr/>
        </p:nvSpPr>
        <p:spPr>
          <a:xfrm>
            <a:off x="1177684" y="5524500"/>
            <a:ext cx="482788" cy="461665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C26EB2A-83FA-B164-B8FC-65E33A1AF4A8}"/>
              </a:ext>
            </a:extLst>
          </p:cNvPr>
          <p:cNvGrpSpPr/>
          <p:nvPr/>
        </p:nvGrpSpPr>
        <p:grpSpPr>
          <a:xfrm>
            <a:off x="809361" y="7295971"/>
            <a:ext cx="14049639" cy="1200329"/>
            <a:chOff x="762000" y="7143571"/>
            <a:chExt cx="14049639" cy="12003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DB86AA-2AD8-1DEE-547D-561D2D1BB925}"/>
                </a:ext>
              </a:extLst>
            </p:cNvPr>
            <p:cNvSpPr txBox="1"/>
            <p:nvPr/>
          </p:nvSpPr>
          <p:spPr>
            <a:xfrm>
              <a:off x="1106515" y="7143571"/>
              <a:ext cx="1370512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sz="2400" b="1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[</a:t>
              </a:r>
              <a:r>
                <a:rPr kumimoji="1" lang="ko-KR" altLang="en-US" sz="2400" b="1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실험 결과</a:t>
              </a:r>
              <a:r>
                <a:rPr kumimoji="1" lang="en-US" altLang="ko-KR" sz="2400" b="1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]</a:t>
              </a:r>
            </a:p>
            <a:p>
              <a:pPr marL="914400" lvl="1" indent="-457200">
                <a:buFont typeface="시스템 서체 일반체"/>
                <a:buChar char="-"/>
              </a:pP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(white box) 100% </a:t>
              </a:r>
              <a:r>
                <a:rPr kumimoji="1" lang="ko-KR" altLang="en-US" sz="2400" dirty="0" err="1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에</a:t>
              </a:r>
              <a:r>
                <a:rPr kumimoji="1" lang="ko-KR" altLang="en-US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 가까운 공격 성공률을 보임</a:t>
              </a: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.</a:t>
              </a:r>
            </a:p>
            <a:p>
              <a:pPr marL="914400" lvl="1" indent="-457200">
                <a:buFont typeface="시스템 서체 일반체"/>
                <a:buChar char="-"/>
              </a:pP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(black box) </a:t>
              </a:r>
              <a:r>
                <a:rPr kumimoji="1" lang="ko-KR" altLang="en-US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좋은 공격 성공률을 보임</a:t>
              </a:r>
              <a:r>
                <a:rPr kumimoji="1" lang="en-US" altLang="ko-KR" sz="2400" dirty="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.</a:t>
              </a: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BF97A8D7-DCCC-0651-532C-B20C0B9808A0}"/>
                </a:ext>
              </a:extLst>
            </p:cNvPr>
            <p:cNvSpPr/>
            <p:nvPr/>
          </p:nvSpPr>
          <p:spPr>
            <a:xfrm>
              <a:off x="762000" y="7143571"/>
              <a:ext cx="388796" cy="364761"/>
            </a:xfrm>
            <a:custGeom>
              <a:avLst/>
              <a:gdLst/>
              <a:ahLst/>
              <a:cxnLst/>
              <a:rect l="l" t="t" r="r" b="b"/>
              <a:pathLst>
                <a:path w="648352" h="608272">
                  <a:moveTo>
                    <a:pt x="0" y="0"/>
                  </a:moveTo>
                  <a:lnTo>
                    <a:pt x="648351" y="0"/>
                  </a:lnTo>
                  <a:lnTo>
                    <a:pt x="648351" y="608272"/>
                  </a:lnTo>
                  <a:lnTo>
                    <a:pt x="0" y="60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A50D8E2-2A36-FEB5-F85E-B0D9036FC806}"/>
              </a:ext>
            </a:extLst>
          </p:cNvPr>
          <p:cNvGrpSpPr/>
          <p:nvPr/>
        </p:nvGrpSpPr>
        <p:grpSpPr>
          <a:xfrm>
            <a:off x="1177684" y="6067636"/>
            <a:ext cx="10176116" cy="835462"/>
            <a:chOff x="8856768" y="5520035"/>
            <a:chExt cx="7831032" cy="835462"/>
          </a:xfrm>
        </p:grpSpPr>
        <p:sp>
          <p:nvSpPr>
            <p:cNvPr id="40" name="모서리가 둥근 직사각형 39">
              <a:extLst>
                <a:ext uri="{FF2B5EF4-FFF2-40B4-BE49-F238E27FC236}">
                  <a16:creationId xmlns:a16="http://schemas.microsoft.com/office/drawing/2014/main" id="{658C9753-D62F-7240-E512-1AB5B6735627}"/>
                </a:ext>
              </a:extLst>
            </p:cNvPr>
            <p:cNvSpPr/>
            <p:nvPr/>
          </p:nvSpPr>
          <p:spPr>
            <a:xfrm>
              <a:off x="8856768" y="5520035"/>
              <a:ext cx="371530" cy="461665"/>
            </a:xfrm>
            <a:prstGeom prst="roundRect">
              <a:avLst/>
            </a:prstGeom>
            <a:noFill/>
            <a:ln w="38100">
              <a:solidFill>
                <a:srgbClr val="009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161C22-1614-8BC8-9B9B-F918E5C1230E}"/>
                </a:ext>
              </a:extLst>
            </p:cNvPr>
            <p:cNvSpPr txBox="1"/>
            <p:nvPr/>
          </p:nvSpPr>
          <p:spPr>
            <a:xfrm>
              <a:off x="9371858" y="5524500"/>
              <a:ext cx="731594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공격 대상을 제외한 나머지 </a:t>
              </a:r>
              <a:r>
                <a:rPr kumimoji="1" lang="en-US" altLang="ko-KR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3</a:t>
              </a:r>
              <a:r>
                <a:rPr kumimoji="1" lang="ko-KR" altLang="en-US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개의 </a:t>
              </a:r>
              <a:r>
                <a:rPr kumimoji="1" lang="en-US" altLang="ko-KR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ensemble</a:t>
              </a:r>
              <a:r>
                <a:rPr kumimoji="1" lang="ko-KR" altLang="en-US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 이용</a:t>
              </a:r>
              <a:r>
                <a:rPr kumimoji="1" lang="en-US" altLang="ko-KR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(black-box)</a:t>
              </a:r>
              <a:endParaRPr kumimoji="1" lang="ko-KR" altLang="en-US" sz="2400" dirty="0">
                <a:solidFill>
                  <a:srgbClr val="0095EA"/>
                </a:solidFill>
                <a:latin typeface="Source Han Sans KR Bold" panose="020B0800000000000000" pitchFamily="34" charset="-128"/>
                <a:ea typeface="Source Han Sans KR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449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C007C-8038-72DC-7BA5-2F6949C2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441FC06-A91F-6302-2D9C-593175BCF558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66F52D4-AE88-FD39-8767-6D91FFFB448D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논문 리뷰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–</a:t>
            </a:r>
            <a:r>
              <a:rPr lang="ko-KR" altLang="en-US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실험 </a:t>
            </a:r>
            <a:r>
              <a:rPr lang="en-US" altLang="ko-KR" sz="2800" b="1" dirty="0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2(Attacking an Ensemble of Models)</a:t>
            </a:r>
            <a:endParaRPr lang="en-US" sz="2800" b="1" dirty="0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723188D-B0FF-8886-CCD9-CE3FB6D1D992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EEA43FA0-EC4F-F4DD-4158-F761F9EFE35F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F80AB011-DB22-6BE9-F716-B2C59102F1C2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 dirty="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0A46548-CF71-BEA1-635C-39219D66F0DC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42931DBF-6CD5-1F6E-F4AC-39D7D6FF19CC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0DDBBC28-7CDE-3A9F-D99D-39F797F65E68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6FA8828-B12D-E34B-DFFF-0615717543F5}"/>
              </a:ext>
            </a:extLst>
          </p:cNvPr>
          <p:cNvSpPr txBox="1"/>
          <p:nvPr/>
        </p:nvSpPr>
        <p:spPr>
          <a:xfrm>
            <a:off x="1751858" y="5524500"/>
            <a:ext cx="6383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dirty="0">
                <a:solidFill>
                  <a:srgbClr val="EC1D26"/>
                </a:solidFill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공격 대상을 포함한 모든 모델 이용</a:t>
            </a:r>
            <a:r>
              <a:rPr kumimoji="1" lang="en-US" altLang="ko-KR" sz="2400" dirty="0">
                <a:solidFill>
                  <a:srgbClr val="EC1D26"/>
                </a:solidFill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(white-box)</a:t>
            </a:r>
            <a:endParaRPr kumimoji="1" lang="ko-KR" altLang="en-US" sz="2400" dirty="0">
              <a:solidFill>
                <a:srgbClr val="EC1D26"/>
              </a:solidFill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8244000C-77D3-A5B0-95D9-55F1D5F42CE9}"/>
              </a:ext>
            </a:extLst>
          </p:cNvPr>
          <p:cNvSpPr/>
          <p:nvPr/>
        </p:nvSpPr>
        <p:spPr>
          <a:xfrm>
            <a:off x="1177684" y="5524500"/>
            <a:ext cx="482788" cy="461665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382290-14E0-6EBC-909A-A102E8F9A6B3}"/>
              </a:ext>
            </a:extLst>
          </p:cNvPr>
          <p:cNvSpPr txBox="1"/>
          <p:nvPr/>
        </p:nvSpPr>
        <p:spPr>
          <a:xfrm>
            <a:off x="9762070" y="2544707"/>
            <a:ext cx="137051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[</a:t>
            </a:r>
            <a:r>
              <a:rPr kumimoji="1" lang="ko-KR" altLang="en-US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실험 결과</a:t>
            </a:r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]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(white box) 100% 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에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가까운 공격 성공률을 보임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.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(ensemble model black box)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좋은 공격 성공률을 보임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.</a:t>
            </a:r>
          </a:p>
        </p:txBody>
      </p:sp>
      <p:sp>
        <p:nvSpPr>
          <p:cNvPr id="34" name="Freeform 11">
            <a:extLst>
              <a:ext uri="{FF2B5EF4-FFF2-40B4-BE49-F238E27FC236}">
                <a16:creationId xmlns:a16="http://schemas.microsoft.com/office/drawing/2014/main" id="{7EC3B805-7584-DD86-FC48-79CB753AD0DB}"/>
              </a:ext>
            </a:extLst>
          </p:cNvPr>
          <p:cNvSpPr/>
          <p:nvPr/>
        </p:nvSpPr>
        <p:spPr>
          <a:xfrm>
            <a:off x="9457270" y="254470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4A7000C-0964-973A-671A-C6345F518F7B}"/>
              </a:ext>
            </a:extLst>
          </p:cNvPr>
          <p:cNvGrpSpPr/>
          <p:nvPr/>
        </p:nvGrpSpPr>
        <p:grpSpPr>
          <a:xfrm>
            <a:off x="200366" y="1028700"/>
            <a:ext cx="9046051" cy="4445168"/>
            <a:chOff x="200366" y="1548182"/>
            <a:chExt cx="9046051" cy="3976318"/>
          </a:xfrm>
        </p:grpSpPr>
        <p:sp>
          <p:nvSpPr>
            <p:cNvPr id="22" name="양쪽 중괄호 21">
              <a:extLst>
                <a:ext uri="{FF2B5EF4-FFF2-40B4-BE49-F238E27FC236}">
                  <a16:creationId xmlns:a16="http://schemas.microsoft.com/office/drawing/2014/main" id="{08D589FC-6C4E-7FA2-1EE5-9AB769D83AAD}"/>
                </a:ext>
              </a:extLst>
            </p:cNvPr>
            <p:cNvSpPr/>
            <p:nvPr/>
          </p:nvSpPr>
          <p:spPr>
            <a:xfrm>
              <a:off x="594194" y="2366137"/>
              <a:ext cx="3215806" cy="2846871"/>
            </a:xfrm>
            <a:prstGeom prst="bracePair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14" name="그림 13" descr="텍스트, 폰트, 번호, 스크린샷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52965F5-F6B0-ADF4-763C-2677B7ADB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7684" y="1548182"/>
              <a:ext cx="8068733" cy="3976318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97D537-CB8A-5C5E-C5D6-F57615A1D7BC}"/>
                </a:ext>
              </a:extLst>
            </p:cNvPr>
            <p:cNvSpPr txBox="1"/>
            <p:nvPr/>
          </p:nvSpPr>
          <p:spPr>
            <a:xfrm>
              <a:off x="200366" y="2458418"/>
              <a:ext cx="461665" cy="280012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kumimoji="1" lang="ko-KR" altLang="en-US" dirty="0">
                  <a:ea typeface="Source Han Sans KR Bold" panose="020B0800000000000000" pitchFamily="34" charset="-128"/>
                </a:rPr>
                <a:t>공격 대상</a:t>
              </a:r>
              <a:r>
                <a:rPr kumimoji="1" lang="en-US" altLang="ko-KR" dirty="0">
                  <a:ea typeface="Source Han Sans KR Bold" panose="020B0800000000000000" pitchFamily="34" charset="-128"/>
                </a:rPr>
                <a:t>(</a:t>
              </a:r>
              <a:r>
                <a:rPr kumimoji="1" lang="ko-KR" altLang="en-US" b="1" dirty="0">
                  <a:ea typeface="Source Han Sans KR Bold" panose="020B0800000000000000" pitchFamily="34" charset="-128"/>
                </a:rPr>
                <a:t>앙상블 모델</a:t>
              </a:r>
              <a:r>
                <a:rPr kumimoji="1" lang="en-US" altLang="ko-KR" dirty="0">
                  <a:ea typeface="Source Han Sans KR Bold" panose="020B0800000000000000" pitchFamily="34" charset="-128"/>
                </a:rPr>
                <a:t>)</a:t>
              </a:r>
              <a:endParaRPr kumimoji="1" lang="ko-KR" altLang="en-US" dirty="0">
                <a:ea typeface="Source Han Sans KR Bold" panose="020B0800000000000000" pitchFamily="34" charset="-128"/>
              </a:endParaRPr>
            </a:p>
          </p:txBody>
        </p:sp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11E9C7DE-7D47-3562-8764-2FAEC4DFE1BE}"/>
                </a:ext>
              </a:extLst>
            </p:cNvPr>
            <p:cNvSpPr/>
            <p:nvPr/>
          </p:nvSpPr>
          <p:spPr>
            <a:xfrm>
              <a:off x="5638800" y="1675182"/>
              <a:ext cx="1295400" cy="304800"/>
            </a:xfrm>
            <a:prstGeom prst="roundRect">
              <a:avLst/>
            </a:prstGeom>
            <a:noFill/>
            <a:ln w="38100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00E701B5-45CF-4142-6D64-3431D1720545}"/>
                </a:ext>
              </a:extLst>
            </p:cNvPr>
            <p:cNvSpPr/>
            <p:nvPr/>
          </p:nvSpPr>
          <p:spPr>
            <a:xfrm>
              <a:off x="7467600" y="1675182"/>
              <a:ext cx="1295400" cy="304800"/>
            </a:xfrm>
            <a:prstGeom prst="roundRect">
              <a:avLst/>
            </a:prstGeom>
            <a:noFill/>
            <a:ln w="38100">
              <a:solidFill>
                <a:srgbClr val="009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2DAE3930-5B7E-5FC6-C4D0-EC5069E09DB4}"/>
              </a:ext>
            </a:extLst>
          </p:cNvPr>
          <p:cNvGrpSpPr/>
          <p:nvPr/>
        </p:nvGrpSpPr>
        <p:grpSpPr>
          <a:xfrm>
            <a:off x="1177684" y="6067636"/>
            <a:ext cx="10176116" cy="466130"/>
            <a:chOff x="8856768" y="5520035"/>
            <a:chExt cx="7831032" cy="466130"/>
          </a:xfrm>
        </p:grpSpPr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2E255FC4-6B53-AF4D-4033-E8572BFD20A2}"/>
                </a:ext>
              </a:extLst>
            </p:cNvPr>
            <p:cNvSpPr/>
            <p:nvPr/>
          </p:nvSpPr>
          <p:spPr>
            <a:xfrm>
              <a:off x="8856768" y="5520035"/>
              <a:ext cx="371530" cy="461665"/>
            </a:xfrm>
            <a:prstGeom prst="roundRect">
              <a:avLst/>
            </a:prstGeom>
            <a:noFill/>
            <a:ln w="38100">
              <a:solidFill>
                <a:srgbClr val="009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CF4062-0520-2472-D3A9-43C42F025804}"/>
                </a:ext>
              </a:extLst>
            </p:cNvPr>
            <p:cNvSpPr txBox="1"/>
            <p:nvPr/>
          </p:nvSpPr>
          <p:spPr>
            <a:xfrm>
              <a:off x="9371858" y="5524500"/>
              <a:ext cx="73159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공격 대상을 제외한 나머지 </a:t>
              </a:r>
              <a:r>
                <a:rPr kumimoji="1" lang="en-US" altLang="ko-KR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6</a:t>
              </a:r>
              <a:r>
                <a:rPr kumimoji="1" lang="ko-KR" altLang="en-US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개의 </a:t>
              </a:r>
              <a:r>
                <a:rPr kumimoji="1" lang="en-US" altLang="ko-KR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ensemble</a:t>
              </a:r>
              <a:r>
                <a:rPr kumimoji="1" lang="ko-KR" altLang="en-US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 이용</a:t>
              </a:r>
              <a:r>
                <a:rPr kumimoji="1" lang="en-US" altLang="ko-KR" sz="2400" dirty="0">
                  <a:solidFill>
                    <a:srgbClr val="0095EA"/>
                  </a:solidFill>
                  <a:latin typeface="Source Han Sans KR Bold" panose="020B0800000000000000" pitchFamily="34" charset="-128"/>
                  <a:ea typeface="Source Han Sans KR Bold" panose="020B0800000000000000" pitchFamily="34" charset="-128"/>
                </a:rPr>
                <a:t>(black-box)</a:t>
              </a:r>
              <a:endParaRPr kumimoji="1" lang="ko-KR" altLang="en-US" sz="2400" dirty="0">
                <a:solidFill>
                  <a:srgbClr val="0095EA"/>
                </a:solidFill>
                <a:latin typeface="Source Han Sans KR Bold" panose="020B0800000000000000" pitchFamily="34" charset="-128"/>
                <a:ea typeface="Source Han Sans KR Bold" panose="020B0800000000000000" pitchFamily="34" charset="-128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127F108-9B14-9D18-749B-5042329D7611}"/>
              </a:ext>
            </a:extLst>
          </p:cNvPr>
          <p:cNvSpPr txBox="1"/>
          <p:nvPr/>
        </p:nvSpPr>
        <p:spPr>
          <a:xfrm>
            <a:off x="1001476" y="7295971"/>
            <a:ext cx="172865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[</a:t>
            </a:r>
            <a:r>
              <a:rPr kumimoji="1" lang="ko-KR" altLang="en-US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결론</a:t>
            </a:r>
            <a:r>
              <a:rPr kumimoji="1" lang="en-US" altLang="ko-KR" sz="2400" b="1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]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Momentum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기반 메서드는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white-box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뿐만 아니라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black-box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에서도 효과적인 공격 성공률을 보임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.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black-box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의 경우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,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기존의 공격 방식인 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FGSM, I-FGSM 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보다 높은 성능을 보임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.</a:t>
            </a:r>
          </a:p>
          <a:p>
            <a:pPr marL="914400" lvl="1" indent="-457200">
              <a:buFont typeface="시스템 서체 일반체"/>
              <a:buChar char="-"/>
            </a:pP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적대적 샘플을 만들 때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, logits </a:t>
            </a:r>
            <a:r>
              <a:rPr kumimoji="1" lang="ko-KR" altLang="en-US" sz="2400" dirty="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에</a:t>
            </a:r>
            <a:r>
              <a:rPr kumimoji="1" lang="ko-KR" altLang="en-US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대한 가중치 합으로 모델의 앙상블을 통해 만드는 것은 높은 전이 가능성을 얻을 수 있음</a:t>
            </a:r>
            <a:r>
              <a:rPr kumimoji="1" lang="en-US" altLang="ko-KR" sz="2400" dirty="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.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A2E544EC-B5C9-56CC-7E4C-AE5C980C482B}"/>
              </a:ext>
            </a:extLst>
          </p:cNvPr>
          <p:cNvSpPr/>
          <p:nvPr/>
        </p:nvSpPr>
        <p:spPr>
          <a:xfrm>
            <a:off x="696676" y="7295971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66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59923" y="4467353"/>
            <a:ext cx="4168155" cy="121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89"/>
              </a:lnSpc>
              <a:spcBef>
                <a:spcPct val="0"/>
              </a:spcBef>
            </a:pPr>
            <a:r>
              <a:rPr lang="en-US" sz="7135" b="1">
                <a:solidFill>
                  <a:srgbClr val="FAFAFA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감사합니다</a:t>
            </a:r>
          </a:p>
        </p:txBody>
      </p:sp>
      <p:sp>
        <p:nvSpPr>
          <p:cNvPr id="3" name="AutoShape 3"/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5938004" y="990600"/>
            <a:ext cx="1664196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AFAFA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2025.0</a:t>
            </a:r>
            <a:r>
              <a:rPr lang="en-US" altLang="ko-KR" sz="2000" dirty="0">
                <a:solidFill>
                  <a:srgbClr val="FAFAFA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3</a:t>
            </a:r>
            <a:r>
              <a:rPr lang="en-US" sz="2000" dirty="0">
                <a:solidFill>
                  <a:srgbClr val="FAFAFA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r>
              <a:rPr lang="en-US" altLang="ko-KR" sz="2000" dirty="0">
                <a:solidFill>
                  <a:srgbClr val="FAFAFA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13</a:t>
            </a:r>
            <a:r>
              <a:rPr lang="en-US" sz="2000" dirty="0">
                <a:solidFill>
                  <a:srgbClr val="FAFAFA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166048E4-7E1E-B31B-4F4B-2250759C1EC5}"/>
              </a:ext>
            </a:extLst>
          </p:cNvPr>
          <p:cNvGrpSpPr/>
          <p:nvPr/>
        </p:nvGrpSpPr>
        <p:grpSpPr>
          <a:xfrm>
            <a:off x="6901866" y="5686297"/>
            <a:ext cx="4465218" cy="929096"/>
            <a:chOff x="0" y="-192881"/>
            <a:chExt cx="5953623" cy="1238795"/>
          </a:xfrm>
        </p:grpSpPr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A134C66D-C6B4-66F7-1539-845B93193C42}"/>
                </a:ext>
              </a:extLst>
            </p:cNvPr>
            <p:cNvGrpSpPr/>
            <p:nvPr/>
          </p:nvGrpSpPr>
          <p:grpSpPr>
            <a:xfrm>
              <a:off x="0" y="-192881"/>
              <a:ext cx="5953623" cy="1238795"/>
              <a:chOff x="0" y="-38100"/>
              <a:chExt cx="1176024" cy="244700"/>
            </a:xfrm>
          </p:grpSpPr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E176F4E4-5163-C1BD-B125-F90B5EF84C45}"/>
                  </a:ext>
                </a:extLst>
              </p:cNvPr>
              <p:cNvSpPr/>
              <p:nvPr/>
            </p:nvSpPr>
            <p:spPr>
              <a:xfrm>
                <a:off x="0" y="-38100"/>
                <a:ext cx="1176024" cy="244700"/>
              </a:xfrm>
              <a:custGeom>
                <a:avLst/>
                <a:gdLst/>
                <a:ahLst/>
                <a:cxnLst/>
                <a:rect l="l" t="t" r="r" b="b"/>
                <a:pathLst>
                  <a:path w="733922" h="186926">
                    <a:moveTo>
                      <a:pt x="93463" y="0"/>
                    </a:moveTo>
                    <a:lnTo>
                      <a:pt x="640459" y="0"/>
                    </a:lnTo>
                    <a:cubicBezTo>
                      <a:pt x="665247" y="0"/>
                      <a:pt x="689020" y="9847"/>
                      <a:pt x="706548" y="27375"/>
                    </a:cubicBezTo>
                    <a:cubicBezTo>
                      <a:pt x="724075" y="44902"/>
                      <a:pt x="733922" y="68675"/>
                      <a:pt x="733922" y="93463"/>
                    </a:cubicBezTo>
                    <a:lnTo>
                      <a:pt x="733922" y="93463"/>
                    </a:lnTo>
                    <a:cubicBezTo>
                      <a:pt x="733922" y="118251"/>
                      <a:pt x="724075" y="142024"/>
                      <a:pt x="706548" y="159551"/>
                    </a:cubicBezTo>
                    <a:cubicBezTo>
                      <a:pt x="689020" y="177079"/>
                      <a:pt x="665247" y="186926"/>
                      <a:pt x="640459" y="186926"/>
                    </a:cubicBezTo>
                    <a:lnTo>
                      <a:pt x="93463" y="186926"/>
                    </a:lnTo>
                    <a:cubicBezTo>
                      <a:pt x="68675" y="186926"/>
                      <a:pt x="44902" y="177079"/>
                      <a:pt x="27375" y="159551"/>
                    </a:cubicBezTo>
                    <a:cubicBezTo>
                      <a:pt x="9847" y="142024"/>
                      <a:pt x="0" y="118251"/>
                      <a:pt x="0" y="93463"/>
                    </a:cubicBezTo>
                    <a:lnTo>
                      <a:pt x="0" y="93463"/>
                    </a:lnTo>
                    <a:cubicBezTo>
                      <a:pt x="0" y="68675"/>
                      <a:pt x="9847" y="44902"/>
                      <a:pt x="27375" y="27375"/>
                    </a:cubicBezTo>
                    <a:cubicBezTo>
                      <a:pt x="44902" y="9847"/>
                      <a:pt x="68675" y="0"/>
                      <a:pt x="93463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9">
                <a:extLst>
                  <a:ext uri="{FF2B5EF4-FFF2-40B4-BE49-F238E27FC236}">
                    <a16:creationId xmlns:a16="http://schemas.microsoft.com/office/drawing/2014/main" id="{EA756317-E520-2527-9A95-7C0A118EFDB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33922" cy="2250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69EC77DE-9496-6FF0-2C87-8CAA48E00123}"/>
                </a:ext>
              </a:extLst>
            </p:cNvPr>
            <p:cNvSpPr txBox="1"/>
            <p:nvPr/>
          </p:nvSpPr>
          <p:spPr>
            <a:xfrm>
              <a:off x="739251" y="-4785"/>
              <a:ext cx="4604774" cy="8479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0"/>
                </a:lnSpc>
                <a:spcBef>
                  <a:spcPct val="0"/>
                </a:spcBef>
              </a:pPr>
              <a:r>
                <a:rPr lang="en-US" sz="3793" b="1" dirty="0" err="1">
                  <a:solidFill>
                    <a:srgbClr val="F9F3E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장현석</a:t>
              </a:r>
              <a:endParaRPr lang="en-US" sz="3793" b="1" dirty="0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F55A0452E259A48B3B4C299F7910F31" ma:contentTypeVersion="12" ma:contentTypeDescription="새 문서를 만듭니다." ma:contentTypeScope="" ma:versionID="93a23572383c64a6b574368beb4eb949">
  <xsd:schema xmlns:xsd="http://www.w3.org/2001/XMLSchema" xmlns:xs="http://www.w3.org/2001/XMLSchema" xmlns:p="http://schemas.microsoft.com/office/2006/metadata/properties" xmlns:ns2="dda23731-9eaf-490a-9b69-c34e96cf22ca" xmlns:ns3="9639060b-3e32-4c2b-b0e0-7d61e1a1e0fb" targetNamespace="http://schemas.microsoft.com/office/2006/metadata/properties" ma:root="true" ma:fieldsID="832f1d0b68974fb6485558cbb38fdb3d" ns2:_="" ns3:_="">
    <xsd:import namespace="dda23731-9eaf-490a-9b69-c34e96cf22ca"/>
    <xsd:import namespace="9639060b-3e32-4c2b-b0e0-7d61e1a1e0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a23731-9eaf-490a-9b69-c34e96cf22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59f65d27-7d66-41f1-9e86-1d8e565610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39060b-3e32-4c2b-b0e0-7d61e1a1e0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9662a04-7a19-4039-b2bc-f3f6dc3d41b1}" ma:internalName="TaxCatchAll" ma:showField="CatchAllData" ma:web="9639060b-3e32-4c2b-b0e0-7d61e1a1e0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a23731-9eaf-490a-9b69-c34e96cf22ca">
      <Terms xmlns="http://schemas.microsoft.com/office/infopath/2007/PartnerControls"/>
    </lcf76f155ced4ddcb4097134ff3c332f>
    <TaxCatchAll xmlns="9639060b-3e32-4c2b-b0e0-7d61e1a1e0fb" xsi:nil="true"/>
  </documentManagement>
</p:properties>
</file>

<file path=customXml/itemProps1.xml><?xml version="1.0" encoding="utf-8"?>
<ds:datastoreItem xmlns:ds="http://schemas.openxmlformats.org/officeDocument/2006/customXml" ds:itemID="{9D258FFB-CF67-48B9-8520-11512EFACB65}"/>
</file>

<file path=customXml/itemProps2.xml><?xml version="1.0" encoding="utf-8"?>
<ds:datastoreItem xmlns:ds="http://schemas.openxmlformats.org/officeDocument/2006/customXml" ds:itemID="{99AD56E5-9E1C-4A01-98D7-8231E1C7EAB2}"/>
</file>

<file path=customXml/itemProps3.xml><?xml version="1.0" encoding="utf-8"?>
<ds:datastoreItem xmlns:ds="http://schemas.openxmlformats.org/officeDocument/2006/customXml" ds:itemID="{80D85453-B596-40E6-A0D7-7862A69D9F81}"/>
</file>

<file path=docProps/app.xml><?xml version="1.0" encoding="utf-8"?>
<Properties xmlns="http://schemas.openxmlformats.org/officeDocument/2006/extended-properties" xmlns:vt="http://schemas.openxmlformats.org/officeDocument/2006/docPropsVTypes">
  <TotalTime>5080</TotalTime>
  <Words>1882</Words>
  <Application>Microsoft Macintosh PowerPoint</Application>
  <PresentationFormat>사용자 지정</PresentationFormat>
  <Paragraphs>186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Source Han Sans KR Bold</vt:lpstr>
      <vt:lpstr>시스템 서체 일반체</vt:lpstr>
      <vt:lpstr>Calibri</vt:lpstr>
      <vt:lpstr>Cambria Math</vt:lpstr>
      <vt:lpstr>Bruno</vt:lpstr>
      <vt:lpstr>맑은 고딕</vt:lpstr>
      <vt:lpstr>Source Han Sans KR Medium</vt:lpstr>
      <vt:lpstr>Source Han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레드 그레이 깔끔한 프로젝트 프레젠테이션</dc:title>
  <cp:lastModifiedBy>장현석</cp:lastModifiedBy>
  <cp:revision>23</cp:revision>
  <dcterms:created xsi:type="dcterms:W3CDTF">2006-08-16T00:00:00Z</dcterms:created>
  <dcterms:modified xsi:type="dcterms:W3CDTF">2025-03-13T09:27:43Z</dcterms:modified>
  <dc:identifier>DAGewWZJ80o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0x010100BF55A0452E259A48B3B4C299F7910F31</vt:lpwstr>
  </property>
</Properties>
</file>